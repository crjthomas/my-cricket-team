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4" r:id="rId19"/>
    <p:sldId id="275" r:id="rId20"/>
    <p:sldId id="276" r:id="rId21"/>
    <p:sldId id="277" r:id="rId22"/>
    <p:sldId id="278" r:id="rId23"/>
    <p:sldId id="279" r:id="rId24"/>
    <p:sldId id="280" r:id="rId25"/>
    <p:sldId id="281" r:id="rId26"/>
    <p:sldId id="282" r:id="rId27"/>
    <p:sldId id="272" r:id="rId28"/>
    <p:sldId id="274" r:id="rId29"/>
    <p:sldId id="283"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B4CE12-69AC-6474-4908-95795CF11D72}" v="3" dt="2026-03-06T22:55:21.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0658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1428-4564-2C30-BE49-DC6A51E94F3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12774B7-3BEF-12CD-452E-1B5C65AAC00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7AFD4B3-C0C3-7382-AA1D-2097D6859379}"/>
              </a:ext>
            </a:extLst>
          </p:cNvPr>
          <p:cNvSpPr>
            <a:spLocks noGrp="1"/>
          </p:cNvSpPr>
          <p:nvPr>
            <p:ph type="dt" sz="half" idx="10"/>
          </p:nvPr>
        </p:nvSpPr>
        <p:spPr/>
        <p:txBody>
          <a:bodyPr/>
          <a:lstStyle/>
          <a:p>
            <a:fld id="{86AE18C1-876F-6241-8E0B-A7F6BD9F17BC}" type="datetime1">
              <a:rPr lang="en-US" smtClean="0"/>
              <a:t>3/6/2026</a:t>
            </a:fld>
            <a:endParaRPr lang="en-US"/>
          </a:p>
        </p:txBody>
      </p:sp>
      <p:sp>
        <p:nvSpPr>
          <p:cNvPr id="5" name="Footer Placeholder 4">
            <a:extLst>
              <a:ext uri="{FF2B5EF4-FFF2-40B4-BE49-F238E27FC236}">
                <a16:creationId xmlns:a16="http://schemas.microsoft.com/office/drawing/2014/main" id="{A87EAC00-910C-114E-E77B-C64F14A437F1}"/>
              </a:ext>
            </a:extLst>
          </p:cNvPr>
          <p:cNvSpPr>
            <a:spLocks noGrp="1"/>
          </p:cNvSpPr>
          <p:nvPr>
            <p:ph type="ftr" sz="quarter" idx="11"/>
          </p:nvPr>
        </p:nvSpPr>
        <p:spPr/>
        <p:txBody>
          <a:bodyPr/>
          <a:lstStyle>
            <a:lvl1pPr>
              <a:defRPr sz="1200" b="0" cap="none" spc="0">
                <a:ln w="0"/>
                <a:solidFill>
                  <a:schemeClr val="tx1"/>
                </a:solidFill>
                <a:effectLst>
                  <a:outerShdw blurRad="38100" dist="19050" dir="2700000" algn="tl" rotWithShape="0">
                    <a:schemeClr val="dk1">
                      <a:alpha val="40000"/>
                    </a:schemeClr>
                  </a:outerShdw>
                </a:effectLst>
              </a:defRPr>
            </a:lvl1pPr>
          </a:lstStyle>
          <a:p>
            <a:r>
              <a:rPr lang="en-US"/>
              <a:t>Oregon Cricket League </a:t>
            </a:r>
          </a:p>
        </p:txBody>
      </p:sp>
      <p:sp>
        <p:nvSpPr>
          <p:cNvPr id="6" name="Slide Number Placeholder 5">
            <a:extLst>
              <a:ext uri="{FF2B5EF4-FFF2-40B4-BE49-F238E27FC236}">
                <a16:creationId xmlns:a16="http://schemas.microsoft.com/office/drawing/2014/main" id="{99C634F4-A3FC-E329-A5DE-5F4EC0AB40BF}"/>
              </a:ext>
            </a:extLst>
          </p:cNvPr>
          <p:cNvSpPr>
            <a:spLocks noGrp="1"/>
          </p:cNvSpPr>
          <p:nvPr>
            <p:ph type="sldNum" sz="quarter" idx="12"/>
          </p:nvPr>
        </p:nvSpPr>
        <p:spPr/>
        <p:txBody>
          <a:bodyPr/>
          <a:lstStyle/>
          <a:p>
            <a:fld id="{2CEF10E0-DB2E-0D4E-A6A3-A0590A802545}" type="slidenum">
              <a:rPr lang="en-US" smtClean="0"/>
              <a:t>‹#›</a:t>
            </a:fld>
            <a:endParaRPr lang="en-US"/>
          </a:p>
        </p:txBody>
      </p:sp>
      <p:pic>
        <p:nvPicPr>
          <p:cNvPr id="14338" name="Picture 2" descr="Ball ">
            <a:extLst>
              <a:ext uri="{FF2B5EF4-FFF2-40B4-BE49-F238E27FC236}">
                <a16:creationId xmlns:a16="http://schemas.microsoft.com/office/drawing/2014/main" id="{E1C1A1EA-60DD-1BE5-B842-6FEF4EB9FAB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9216" y="-331342"/>
            <a:ext cx="427434" cy="427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30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59CF4-C335-3AEE-04C0-06ABB5AD3D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8DDB05-D3E4-AB9D-05D0-080B441333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EB1AF3-BED0-5B0E-BAEC-9B11CE37FBA5}"/>
              </a:ext>
            </a:extLst>
          </p:cNvPr>
          <p:cNvSpPr>
            <a:spLocks noGrp="1"/>
          </p:cNvSpPr>
          <p:nvPr>
            <p:ph type="dt" sz="half" idx="10"/>
          </p:nvPr>
        </p:nvSpPr>
        <p:spPr>
          <a:xfrm>
            <a:off x="0" y="4869656"/>
            <a:ext cx="2057400" cy="273844"/>
          </a:xfrm>
        </p:spPr>
        <p:txBody>
          <a:bodyPr/>
          <a:lstStyle/>
          <a:p>
            <a:fld id="{2C4C78A4-1FFC-C942-ACD6-0ACFF2BC0B51}" type="datetime1">
              <a:rPr lang="en-US" smtClean="0"/>
              <a:t>3/6/2026</a:t>
            </a:fld>
            <a:endParaRPr lang="en-US"/>
          </a:p>
        </p:txBody>
      </p:sp>
      <p:sp>
        <p:nvSpPr>
          <p:cNvPr id="5" name="Footer Placeholder 4">
            <a:extLst>
              <a:ext uri="{FF2B5EF4-FFF2-40B4-BE49-F238E27FC236}">
                <a16:creationId xmlns:a16="http://schemas.microsoft.com/office/drawing/2014/main" id="{7DEF73A8-A676-DB04-74D2-45F0D12C6CE3}"/>
              </a:ext>
            </a:extLst>
          </p:cNvPr>
          <p:cNvSpPr>
            <a:spLocks noGrp="1"/>
          </p:cNvSpPr>
          <p:nvPr>
            <p:ph type="ftr" sz="quarter" idx="11"/>
          </p:nvPr>
        </p:nvSpPr>
        <p:spPr>
          <a:xfrm>
            <a:off x="3028950" y="4869655"/>
            <a:ext cx="3086100" cy="273844"/>
          </a:xfrm>
        </p:spPr>
        <p:txBody>
          <a:bodyPr/>
          <a:lstStyle/>
          <a:p>
            <a:r>
              <a:rPr lang="en-US"/>
              <a:t>Oregon Cricket League </a:t>
            </a:r>
          </a:p>
        </p:txBody>
      </p:sp>
      <p:sp>
        <p:nvSpPr>
          <p:cNvPr id="6" name="Slide Number Placeholder 5">
            <a:extLst>
              <a:ext uri="{FF2B5EF4-FFF2-40B4-BE49-F238E27FC236}">
                <a16:creationId xmlns:a16="http://schemas.microsoft.com/office/drawing/2014/main" id="{6545A7D5-270E-ABC6-D4FC-6163ED0EE563}"/>
              </a:ext>
            </a:extLst>
          </p:cNvPr>
          <p:cNvSpPr>
            <a:spLocks noGrp="1"/>
          </p:cNvSpPr>
          <p:nvPr>
            <p:ph type="sldNum" sz="quarter" idx="12"/>
          </p:nvPr>
        </p:nvSpPr>
        <p:spPr>
          <a:xfrm>
            <a:off x="7086600" y="4869657"/>
            <a:ext cx="2057400" cy="273844"/>
          </a:xfrm>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3783268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62EAE-3798-AC83-CD42-0D57B7F886E2}"/>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76748DA6-987D-F671-1A15-CE9DECA1040D}"/>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46650D-81FE-11B1-FA16-272FC196A38D}"/>
              </a:ext>
            </a:extLst>
          </p:cNvPr>
          <p:cNvSpPr>
            <a:spLocks noGrp="1"/>
          </p:cNvSpPr>
          <p:nvPr>
            <p:ph type="dt" sz="half" idx="10"/>
          </p:nvPr>
        </p:nvSpPr>
        <p:spPr/>
        <p:txBody>
          <a:bodyPr/>
          <a:lstStyle/>
          <a:p>
            <a:fld id="{F536548A-C30C-D24F-9597-4247C8E51C9E}" type="datetime1">
              <a:rPr lang="en-US" smtClean="0"/>
              <a:t>3/6/2026</a:t>
            </a:fld>
            <a:endParaRPr lang="en-US"/>
          </a:p>
        </p:txBody>
      </p:sp>
      <p:sp>
        <p:nvSpPr>
          <p:cNvPr id="5" name="Footer Placeholder 4">
            <a:extLst>
              <a:ext uri="{FF2B5EF4-FFF2-40B4-BE49-F238E27FC236}">
                <a16:creationId xmlns:a16="http://schemas.microsoft.com/office/drawing/2014/main" id="{18FF2E56-8A51-61B7-C410-03D981C927BB}"/>
              </a:ext>
            </a:extLst>
          </p:cNvPr>
          <p:cNvSpPr>
            <a:spLocks noGrp="1"/>
          </p:cNvSpPr>
          <p:nvPr>
            <p:ph type="ftr" sz="quarter" idx="11"/>
          </p:nvPr>
        </p:nvSpPr>
        <p:spPr/>
        <p:txBody>
          <a:bodyPr/>
          <a:lstStyle/>
          <a:p>
            <a:r>
              <a:rPr lang="en-US"/>
              <a:t>Oregon Cricket League </a:t>
            </a:r>
          </a:p>
        </p:txBody>
      </p:sp>
      <p:sp>
        <p:nvSpPr>
          <p:cNvPr id="6" name="Slide Number Placeholder 5">
            <a:extLst>
              <a:ext uri="{FF2B5EF4-FFF2-40B4-BE49-F238E27FC236}">
                <a16:creationId xmlns:a16="http://schemas.microsoft.com/office/drawing/2014/main" id="{9F013FB9-F2CE-B5E4-042C-1E0A77824E41}"/>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3928882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A2FE3-B977-8AC5-FE74-EA937B51FB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D3AE4E-06F5-B9B2-0605-7F87D4307846}"/>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4831C6-A9DE-5FFF-7AB6-40FBFC50BD4F}"/>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66525F-FEDD-0A14-0AE9-98D8FC076D9A}"/>
              </a:ext>
            </a:extLst>
          </p:cNvPr>
          <p:cNvSpPr>
            <a:spLocks noGrp="1"/>
          </p:cNvSpPr>
          <p:nvPr>
            <p:ph type="dt" sz="half" idx="10"/>
          </p:nvPr>
        </p:nvSpPr>
        <p:spPr/>
        <p:txBody>
          <a:bodyPr/>
          <a:lstStyle/>
          <a:p>
            <a:fld id="{D9DD3A59-08AF-7F4E-A795-157DDE548BAB}" type="datetime1">
              <a:rPr lang="en-US" smtClean="0"/>
              <a:t>3/6/2026</a:t>
            </a:fld>
            <a:endParaRPr lang="en-US"/>
          </a:p>
        </p:txBody>
      </p:sp>
      <p:sp>
        <p:nvSpPr>
          <p:cNvPr id="6" name="Footer Placeholder 5">
            <a:extLst>
              <a:ext uri="{FF2B5EF4-FFF2-40B4-BE49-F238E27FC236}">
                <a16:creationId xmlns:a16="http://schemas.microsoft.com/office/drawing/2014/main" id="{69A70131-2FF5-74B3-34A3-7ED30695E60F}"/>
              </a:ext>
            </a:extLst>
          </p:cNvPr>
          <p:cNvSpPr>
            <a:spLocks noGrp="1"/>
          </p:cNvSpPr>
          <p:nvPr>
            <p:ph type="ftr" sz="quarter" idx="11"/>
          </p:nvPr>
        </p:nvSpPr>
        <p:spPr/>
        <p:txBody>
          <a:bodyPr/>
          <a:lstStyle/>
          <a:p>
            <a:r>
              <a:rPr lang="en-US"/>
              <a:t>Oregon Cricket League </a:t>
            </a:r>
          </a:p>
        </p:txBody>
      </p:sp>
      <p:sp>
        <p:nvSpPr>
          <p:cNvPr id="7" name="Slide Number Placeholder 6">
            <a:extLst>
              <a:ext uri="{FF2B5EF4-FFF2-40B4-BE49-F238E27FC236}">
                <a16:creationId xmlns:a16="http://schemas.microsoft.com/office/drawing/2014/main" id="{1EBADB74-FE79-93C4-B690-04B7F951C0B6}"/>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14148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23A7-E7B6-EA1C-5252-E718683382C7}"/>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CC649F-AD21-5518-9B09-915DAF6D965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A960281-EA22-7EDB-075D-D62F7DC55A1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7E5F0A-15E8-1D71-9042-79F1AFC3F0EB}"/>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1064BE1-0354-B409-D382-AF7A212907B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2CA143-F80F-7A6D-1589-78473DA117DC}"/>
              </a:ext>
            </a:extLst>
          </p:cNvPr>
          <p:cNvSpPr>
            <a:spLocks noGrp="1"/>
          </p:cNvSpPr>
          <p:nvPr>
            <p:ph type="dt" sz="half" idx="10"/>
          </p:nvPr>
        </p:nvSpPr>
        <p:spPr/>
        <p:txBody>
          <a:bodyPr/>
          <a:lstStyle/>
          <a:p>
            <a:fld id="{C470A735-EC53-ED4D-95CA-96F0A03A6E12}" type="datetime1">
              <a:rPr lang="en-US" smtClean="0"/>
              <a:t>3/6/2026</a:t>
            </a:fld>
            <a:endParaRPr lang="en-US"/>
          </a:p>
        </p:txBody>
      </p:sp>
      <p:sp>
        <p:nvSpPr>
          <p:cNvPr id="8" name="Footer Placeholder 7">
            <a:extLst>
              <a:ext uri="{FF2B5EF4-FFF2-40B4-BE49-F238E27FC236}">
                <a16:creationId xmlns:a16="http://schemas.microsoft.com/office/drawing/2014/main" id="{3274A397-7382-9ABF-E73C-17146F9108D1}"/>
              </a:ext>
            </a:extLst>
          </p:cNvPr>
          <p:cNvSpPr>
            <a:spLocks noGrp="1"/>
          </p:cNvSpPr>
          <p:nvPr>
            <p:ph type="ftr" sz="quarter" idx="11"/>
          </p:nvPr>
        </p:nvSpPr>
        <p:spPr/>
        <p:txBody>
          <a:bodyPr/>
          <a:lstStyle/>
          <a:p>
            <a:r>
              <a:rPr lang="en-US"/>
              <a:t>Oregon Cricket League </a:t>
            </a:r>
          </a:p>
        </p:txBody>
      </p:sp>
      <p:sp>
        <p:nvSpPr>
          <p:cNvPr id="9" name="Slide Number Placeholder 8">
            <a:extLst>
              <a:ext uri="{FF2B5EF4-FFF2-40B4-BE49-F238E27FC236}">
                <a16:creationId xmlns:a16="http://schemas.microsoft.com/office/drawing/2014/main" id="{86C67DEE-0422-722D-6C2E-8171FD7FF903}"/>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3870498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19D08-FB87-E41B-C2C0-7DDBFD8E43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263942-6A52-01FC-5E28-B495AFA829E6}"/>
              </a:ext>
            </a:extLst>
          </p:cNvPr>
          <p:cNvSpPr>
            <a:spLocks noGrp="1"/>
          </p:cNvSpPr>
          <p:nvPr>
            <p:ph type="dt" sz="half" idx="10"/>
          </p:nvPr>
        </p:nvSpPr>
        <p:spPr/>
        <p:txBody>
          <a:bodyPr/>
          <a:lstStyle/>
          <a:p>
            <a:fld id="{B4309710-F4B7-ED46-9B8F-F28C3F7D719A}" type="datetime1">
              <a:rPr lang="en-US" smtClean="0"/>
              <a:t>3/6/2026</a:t>
            </a:fld>
            <a:endParaRPr lang="en-US"/>
          </a:p>
        </p:txBody>
      </p:sp>
      <p:sp>
        <p:nvSpPr>
          <p:cNvPr id="4" name="Footer Placeholder 3">
            <a:extLst>
              <a:ext uri="{FF2B5EF4-FFF2-40B4-BE49-F238E27FC236}">
                <a16:creationId xmlns:a16="http://schemas.microsoft.com/office/drawing/2014/main" id="{464C411B-DE89-C22E-4551-ECC2B817B050}"/>
              </a:ext>
            </a:extLst>
          </p:cNvPr>
          <p:cNvSpPr>
            <a:spLocks noGrp="1"/>
          </p:cNvSpPr>
          <p:nvPr>
            <p:ph type="ftr" sz="quarter" idx="11"/>
          </p:nvPr>
        </p:nvSpPr>
        <p:spPr/>
        <p:txBody>
          <a:bodyPr/>
          <a:lstStyle/>
          <a:p>
            <a:r>
              <a:rPr lang="en-US"/>
              <a:t>Oregon Cricket League </a:t>
            </a:r>
          </a:p>
        </p:txBody>
      </p:sp>
      <p:sp>
        <p:nvSpPr>
          <p:cNvPr id="5" name="Slide Number Placeholder 4">
            <a:extLst>
              <a:ext uri="{FF2B5EF4-FFF2-40B4-BE49-F238E27FC236}">
                <a16:creationId xmlns:a16="http://schemas.microsoft.com/office/drawing/2014/main" id="{08D581C7-2F8E-FE27-40BB-E2B189AA5FEE}"/>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3500748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022F8C-3347-2A9A-7574-7D02A5A5454D}"/>
              </a:ext>
            </a:extLst>
          </p:cNvPr>
          <p:cNvSpPr>
            <a:spLocks noGrp="1"/>
          </p:cNvSpPr>
          <p:nvPr>
            <p:ph type="dt" sz="half" idx="10"/>
          </p:nvPr>
        </p:nvSpPr>
        <p:spPr/>
        <p:txBody>
          <a:bodyPr/>
          <a:lstStyle/>
          <a:p>
            <a:fld id="{1813AD4F-640C-7348-85BC-99ACE0DB5028}" type="datetime1">
              <a:rPr lang="en-US" smtClean="0"/>
              <a:t>3/6/2026</a:t>
            </a:fld>
            <a:endParaRPr lang="en-US"/>
          </a:p>
        </p:txBody>
      </p:sp>
      <p:sp>
        <p:nvSpPr>
          <p:cNvPr id="3" name="Footer Placeholder 2">
            <a:extLst>
              <a:ext uri="{FF2B5EF4-FFF2-40B4-BE49-F238E27FC236}">
                <a16:creationId xmlns:a16="http://schemas.microsoft.com/office/drawing/2014/main" id="{A919D614-36B3-929C-B937-C5B5E58B0854}"/>
              </a:ext>
            </a:extLst>
          </p:cNvPr>
          <p:cNvSpPr>
            <a:spLocks noGrp="1"/>
          </p:cNvSpPr>
          <p:nvPr>
            <p:ph type="ftr" sz="quarter" idx="11"/>
          </p:nvPr>
        </p:nvSpPr>
        <p:spPr/>
        <p:txBody>
          <a:bodyPr/>
          <a:lstStyle/>
          <a:p>
            <a:r>
              <a:rPr lang="en-US"/>
              <a:t>Oregon Cricket League </a:t>
            </a:r>
          </a:p>
        </p:txBody>
      </p:sp>
      <p:sp>
        <p:nvSpPr>
          <p:cNvPr id="4" name="Slide Number Placeholder 3">
            <a:extLst>
              <a:ext uri="{FF2B5EF4-FFF2-40B4-BE49-F238E27FC236}">
                <a16:creationId xmlns:a16="http://schemas.microsoft.com/office/drawing/2014/main" id="{F91614D4-96E7-71D4-393A-A2AB73B7D015}"/>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1423921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1911-63B9-7DDE-7DC0-931D9AA9B6F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5ED56F6-2412-579D-23F4-BD364A7415A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1DB2A5-E555-1F8A-C4A3-CD31BCD4021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804D10F-0367-EEAD-9A58-FFB103B94DBA}"/>
              </a:ext>
            </a:extLst>
          </p:cNvPr>
          <p:cNvSpPr>
            <a:spLocks noGrp="1"/>
          </p:cNvSpPr>
          <p:nvPr>
            <p:ph type="dt" sz="half" idx="10"/>
          </p:nvPr>
        </p:nvSpPr>
        <p:spPr/>
        <p:txBody>
          <a:bodyPr/>
          <a:lstStyle/>
          <a:p>
            <a:fld id="{D4D7759F-0884-D541-97C2-74C965736314}" type="datetime1">
              <a:rPr lang="en-US" smtClean="0"/>
              <a:t>3/6/2026</a:t>
            </a:fld>
            <a:endParaRPr lang="en-US"/>
          </a:p>
        </p:txBody>
      </p:sp>
      <p:sp>
        <p:nvSpPr>
          <p:cNvPr id="6" name="Footer Placeholder 5">
            <a:extLst>
              <a:ext uri="{FF2B5EF4-FFF2-40B4-BE49-F238E27FC236}">
                <a16:creationId xmlns:a16="http://schemas.microsoft.com/office/drawing/2014/main" id="{5A798CD4-D888-2162-2102-532ADC92CF20}"/>
              </a:ext>
            </a:extLst>
          </p:cNvPr>
          <p:cNvSpPr>
            <a:spLocks noGrp="1"/>
          </p:cNvSpPr>
          <p:nvPr>
            <p:ph type="ftr" sz="quarter" idx="11"/>
          </p:nvPr>
        </p:nvSpPr>
        <p:spPr/>
        <p:txBody>
          <a:bodyPr/>
          <a:lstStyle/>
          <a:p>
            <a:r>
              <a:rPr lang="en-US"/>
              <a:t>Oregon Cricket League </a:t>
            </a:r>
          </a:p>
        </p:txBody>
      </p:sp>
      <p:sp>
        <p:nvSpPr>
          <p:cNvPr id="7" name="Slide Number Placeholder 6">
            <a:extLst>
              <a:ext uri="{FF2B5EF4-FFF2-40B4-BE49-F238E27FC236}">
                <a16:creationId xmlns:a16="http://schemas.microsoft.com/office/drawing/2014/main" id="{4B31D52F-19EA-2333-5793-A567B1653449}"/>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3876668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A8CF9-5BA1-D760-EB91-2953D910E26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3A05A54-761D-D908-A8E7-2090CE68F55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A89BE7A-385D-A69C-396D-38D1D322C5D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803AFF8-B0C5-C08D-A819-19EF22AD6B2E}"/>
              </a:ext>
            </a:extLst>
          </p:cNvPr>
          <p:cNvSpPr>
            <a:spLocks noGrp="1"/>
          </p:cNvSpPr>
          <p:nvPr>
            <p:ph type="dt" sz="half" idx="10"/>
          </p:nvPr>
        </p:nvSpPr>
        <p:spPr/>
        <p:txBody>
          <a:bodyPr/>
          <a:lstStyle/>
          <a:p>
            <a:fld id="{7BC7AC7B-4ED2-D84A-9D51-F65925021C0F}" type="datetime1">
              <a:rPr lang="en-US" smtClean="0"/>
              <a:t>3/6/2026</a:t>
            </a:fld>
            <a:endParaRPr lang="en-US"/>
          </a:p>
        </p:txBody>
      </p:sp>
      <p:sp>
        <p:nvSpPr>
          <p:cNvPr id="6" name="Footer Placeholder 5">
            <a:extLst>
              <a:ext uri="{FF2B5EF4-FFF2-40B4-BE49-F238E27FC236}">
                <a16:creationId xmlns:a16="http://schemas.microsoft.com/office/drawing/2014/main" id="{AAA4069E-AC6F-7DAD-8492-37851E967E63}"/>
              </a:ext>
            </a:extLst>
          </p:cNvPr>
          <p:cNvSpPr>
            <a:spLocks noGrp="1"/>
          </p:cNvSpPr>
          <p:nvPr>
            <p:ph type="ftr" sz="quarter" idx="11"/>
          </p:nvPr>
        </p:nvSpPr>
        <p:spPr/>
        <p:txBody>
          <a:bodyPr/>
          <a:lstStyle/>
          <a:p>
            <a:r>
              <a:rPr lang="en-US"/>
              <a:t>Oregon Cricket League </a:t>
            </a:r>
          </a:p>
        </p:txBody>
      </p:sp>
      <p:sp>
        <p:nvSpPr>
          <p:cNvPr id="7" name="Slide Number Placeholder 6">
            <a:extLst>
              <a:ext uri="{FF2B5EF4-FFF2-40B4-BE49-F238E27FC236}">
                <a16:creationId xmlns:a16="http://schemas.microsoft.com/office/drawing/2014/main" id="{B82DC5B3-E9A8-DD4C-291C-21D0F71D7ACF}"/>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2238463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725F-7DF3-CDE5-8B5E-45DFE10F97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91FFE3-0E4B-DF26-C70B-D498B805DE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E695B-2DD3-7B0C-82FA-CDDACF2C9DAE}"/>
              </a:ext>
            </a:extLst>
          </p:cNvPr>
          <p:cNvSpPr>
            <a:spLocks noGrp="1"/>
          </p:cNvSpPr>
          <p:nvPr>
            <p:ph type="dt" sz="half" idx="10"/>
          </p:nvPr>
        </p:nvSpPr>
        <p:spPr/>
        <p:txBody>
          <a:bodyPr/>
          <a:lstStyle/>
          <a:p>
            <a:fld id="{03536731-7459-D34E-B59F-837B6C867DBD}" type="datetime1">
              <a:rPr lang="en-US" smtClean="0"/>
              <a:t>3/6/2026</a:t>
            </a:fld>
            <a:endParaRPr lang="en-US"/>
          </a:p>
        </p:txBody>
      </p:sp>
      <p:sp>
        <p:nvSpPr>
          <p:cNvPr id="5" name="Footer Placeholder 4">
            <a:extLst>
              <a:ext uri="{FF2B5EF4-FFF2-40B4-BE49-F238E27FC236}">
                <a16:creationId xmlns:a16="http://schemas.microsoft.com/office/drawing/2014/main" id="{9B654D0E-04D8-CB90-2A55-6D1E516EA104}"/>
              </a:ext>
            </a:extLst>
          </p:cNvPr>
          <p:cNvSpPr>
            <a:spLocks noGrp="1"/>
          </p:cNvSpPr>
          <p:nvPr>
            <p:ph type="ftr" sz="quarter" idx="11"/>
          </p:nvPr>
        </p:nvSpPr>
        <p:spPr/>
        <p:txBody>
          <a:bodyPr/>
          <a:lstStyle/>
          <a:p>
            <a:r>
              <a:rPr lang="en-US"/>
              <a:t>Oregon Cricket League </a:t>
            </a:r>
          </a:p>
        </p:txBody>
      </p:sp>
      <p:sp>
        <p:nvSpPr>
          <p:cNvPr id="6" name="Slide Number Placeholder 5">
            <a:extLst>
              <a:ext uri="{FF2B5EF4-FFF2-40B4-BE49-F238E27FC236}">
                <a16:creationId xmlns:a16="http://schemas.microsoft.com/office/drawing/2014/main" id="{1E285CE5-7CDA-BCB4-9AA1-C3E819248C02}"/>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4008645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8DB748-F39A-8712-A302-13480438760D}"/>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8DD27F-688C-E049-A6CA-8536E73676D9}"/>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54742E-DA60-F354-8CDA-93754EADCFBD}"/>
              </a:ext>
            </a:extLst>
          </p:cNvPr>
          <p:cNvSpPr>
            <a:spLocks noGrp="1"/>
          </p:cNvSpPr>
          <p:nvPr>
            <p:ph type="dt" sz="half" idx="10"/>
          </p:nvPr>
        </p:nvSpPr>
        <p:spPr/>
        <p:txBody>
          <a:bodyPr/>
          <a:lstStyle/>
          <a:p>
            <a:fld id="{F2FB58D8-87DC-B44D-9F59-A6CF969C7757}" type="datetime1">
              <a:rPr lang="en-US" smtClean="0"/>
              <a:t>3/6/2026</a:t>
            </a:fld>
            <a:endParaRPr lang="en-US"/>
          </a:p>
        </p:txBody>
      </p:sp>
      <p:sp>
        <p:nvSpPr>
          <p:cNvPr id="5" name="Footer Placeholder 4">
            <a:extLst>
              <a:ext uri="{FF2B5EF4-FFF2-40B4-BE49-F238E27FC236}">
                <a16:creationId xmlns:a16="http://schemas.microsoft.com/office/drawing/2014/main" id="{E03C7BDD-DA79-A782-3705-CDC83C5EC80C}"/>
              </a:ext>
            </a:extLst>
          </p:cNvPr>
          <p:cNvSpPr>
            <a:spLocks noGrp="1"/>
          </p:cNvSpPr>
          <p:nvPr>
            <p:ph type="ftr" sz="quarter" idx="11"/>
          </p:nvPr>
        </p:nvSpPr>
        <p:spPr/>
        <p:txBody>
          <a:bodyPr/>
          <a:lstStyle/>
          <a:p>
            <a:r>
              <a:rPr lang="en-US"/>
              <a:t>Oregon Cricket League </a:t>
            </a:r>
          </a:p>
        </p:txBody>
      </p:sp>
      <p:sp>
        <p:nvSpPr>
          <p:cNvPr id="6" name="Slide Number Placeholder 5">
            <a:extLst>
              <a:ext uri="{FF2B5EF4-FFF2-40B4-BE49-F238E27FC236}">
                <a16:creationId xmlns:a16="http://schemas.microsoft.com/office/drawing/2014/main" id="{7AC4D46F-4907-0D65-77FC-C68BFB1C7650}"/>
              </a:ext>
            </a:extLst>
          </p:cNvPr>
          <p:cNvSpPr>
            <a:spLocks noGrp="1"/>
          </p:cNvSpPr>
          <p:nvPr>
            <p:ph type="sldNum" sz="quarter" idx="12"/>
          </p:nvPr>
        </p:nvSpPr>
        <p:spPr/>
        <p:txBody>
          <a:bodyPr/>
          <a:lstStyle/>
          <a:p>
            <a:fld id="{2CEF10E0-DB2E-0D4E-A6A3-A0590A802545}" type="slidenum">
              <a:rPr lang="en-US" smtClean="0"/>
              <a:t>‹#›</a:t>
            </a:fld>
            <a:endParaRPr lang="en-US"/>
          </a:p>
        </p:txBody>
      </p:sp>
    </p:spTree>
    <p:extLst>
      <p:ext uri="{BB962C8B-B14F-4D97-AF65-F5344CB8AC3E}">
        <p14:creationId xmlns:p14="http://schemas.microsoft.com/office/powerpoint/2010/main" val="161439818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F1D727-61F6-039D-D8B7-0E720C7540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9851F4-F563-5718-AAAB-D4D6A55F5536}"/>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2A5C35-4342-C431-8122-FFE369EF2F5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FF63F731-A921-D242-8EE4-305FEC0F69FF}" type="datetime1">
              <a:rPr lang="en-US" smtClean="0"/>
              <a:t>3/6/2026</a:t>
            </a:fld>
            <a:endParaRPr lang="en-US"/>
          </a:p>
        </p:txBody>
      </p:sp>
      <p:sp>
        <p:nvSpPr>
          <p:cNvPr id="5" name="Footer Placeholder 4">
            <a:extLst>
              <a:ext uri="{FF2B5EF4-FFF2-40B4-BE49-F238E27FC236}">
                <a16:creationId xmlns:a16="http://schemas.microsoft.com/office/drawing/2014/main" id="{AC5B9BCA-D38E-4B04-09EB-5C4CE52196D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1050" b="1">
                <a:solidFill>
                  <a:schemeClr val="tx1">
                    <a:tint val="82000"/>
                  </a:schemeClr>
                </a:solidFill>
              </a:defRPr>
            </a:lvl1pPr>
          </a:lstStyle>
          <a:p>
            <a:r>
              <a:rPr lang="en-US"/>
              <a:t>Oregon Cricket League </a:t>
            </a:r>
            <a:endParaRPr lang="en-US" sz="1050"/>
          </a:p>
        </p:txBody>
      </p:sp>
      <p:sp>
        <p:nvSpPr>
          <p:cNvPr id="6" name="Slide Number Placeholder 5">
            <a:extLst>
              <a:ext uri="{FF2B5EF4-FFF2-40B4-BE49-F238E27FC236}">
                <a16:creationId xmlns:a16="http://schemas.microsoft.com/office/drawing/2014/main" id="{99C115EF-FFD5-A298-33B1-E6BA532EA7B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CEF10E0-DB2E-0D4E-A6A3-A0590A802545}" type="slidenum">
              <a:rPr lang="en-US" smtClean="0"/>
              <a:t>‹#›</a:t>
            </a:fld>
            <a:endParaRPr lang="en-US"/>
          </a:p>
        </p:txBody>
      </p:sp>
      <p:pic>
        <p:nvPicPr>
          <p:cNvPr id="15364" name="Picture 4" descr="Bats ">
            <a:extLst>
              <a:ext uri="{FF2B5EF4-FFF2-40B4-BE49-F238E27FC236}">
                <a16:creationId xmlns:a16="http://schemas.microsoft.com/office/drawing/2014/main" id="{BD692B5A-1553-9268-E2B8-BDD42A2F2870}"/>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9050" y="48816"/>
            <a:ext cx="495311" cy="495311"/>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Ball ">
            <a:extLst>
              <a:ext uri="{FF2B5EF4-FFF2-40B4-BE49-F238E27FC236}">
                <a16:creationId xmlns:a16="http://schemas.microsoft.com/office/drawing/2014/main" id="{C9DB6565-E057-061D-AB57-361ED3B0E21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629640" y="63155"/>
            <a:ext cx="466632" cy="466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59256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D2B"/>
        </a:solidFill>
        <a:effectLst/>
      </p:bgPr>
    </p:bg>
    <p:spTree>
      <p:nvGrpSpPr>
        <p:cNvPr id="1" name=""/>
        <p:cNvGrpSpPr/>
        <p:nvPr/>
      </p:nvGrpSpPr>
      <p:grpSpPr>
        <a:xfrm>
          <a:off x="0" y="0"/>
          <a:ext cx="0" cy="0"/>
          <a:chOff x="0" y="0"/>
          <a:chExt cx="0" cy="0"/>
        </a:xfrm>
      </p:grpSpPr>
      <p:sp>
        <p:nvSpPr>
          <p:cNvPr id="2" name="Text 0"/>
          <p:cNvSpPr/>
          <p:nvPr/>
        </p:nvSpPr>
        <p:spPr>
          <a:xfrm>
            <a:off x="274320" y="274320"/>
            <a:ext cx="457200" cy="457200"/>
          </a:xfrm>
          <a:prstGeom prst="rect">
            <a:avLst/>
          </a:prstGeom>
          <a:noFill/>
          <a:ln/>
        </p:spPr>
        <p:txBody>
          <a:bodyPr wrap="square" rtlCol="0" anchor="ctr"/>
          <a:lstStyle/>
          <a:p>
            <a:pPr marL="0" indent="0">
              <a:buNone/>
            </a:pPr>
            <a:r>
              <a:rPr lang="en-US" sz="3200">
                <a:solidFill>
                  <a:srgbClr val="000000"/>
                </a:solidFill>
              </a:rPr>
              <a:t>🏏</a:t>
            </a:r>
            <a:endParaRPr lang="en-US" sz="3200"/>
          </a:p>
        </p:txBody>
      </p:sp>
      <p:sp>
        <p:nvSpPr>
          <p:cNvPr id="3" name="Text 1"/>
          <p:cNvSpPr/>
          <p:nvPr/>
        </p:nvSpPr>
        <p:spPr>
          <a:xfrm>
            <a:off x="8412480" y="274320"/>
            <a:ext cx="457200" cy="457200"/>
          </a:xfrm>
          <a:prstGeom prst="rect">
            <a:avLst/>
          </a:prstGeom>
          <a:noFill/>
          <a:ln/>
        </p:spPr>
        <p:txBody>
          <a:bodyPr wrap="square" rtlCol="0" anchor="ctr"/>
          <a:lstStyle/>
          <a:p>
            <a:pPr marL="0" indent="0">
              <a:buNone/>
            </a:pPr>
            <a:r>
              <a:rPr lang="en-US" sz="3200">
                <a:solidFill>
                  <a:srgbClr val="000000"/>
                </a:solidFill>
              </a:rPr>
              <a:t>🏏</a:t>
            </a:r>
            <a:endParaRPr lang="en-US" sz="3200"/>
          </a:p>
        </p:txBody>
      </p:sp>
      <p:sp>
        <p:nvSpPr>
          <p:cNvPr id="4" name="Text 2"/>
          <p:cNvSpPr/>
          <p:nvPr/>
        </p:nvSpPr>
        <p:spPr>
          <a:xfrm>
            <a:off x="914400" y="1645920"/>
            <a:ext cx="7315200" cy="914400"/>
          </a:xfrm>
          <a:prstGeom prst="rect">
            <a:avLst/>
          </a:prstGeom>
          <a:noFill/>
          <a:ln/>
        </p:spPr>
        <p:txBody>
          <a:bodyPr wrap="square" rtlCol="0" anchor="ctr"/>
          <a:lstStyle/>
          <a:p>
            <a:pPr marL="0" indent="0" algn="ctr">
              <a:buNone/>
            </a:pPr>
            <a:r>
              <a:rPr lang="en-US" sz="3800" b="1">
                <a:solidFill>
                  <a:srgbClr val="FFFFFF"/>
                </a:solidFill>
              </a:rPr>
              <a:t>Proposal for a New Tournament Format for OCL T20</a:t>
            </a:r>
            <a:endParaRPr lang="en-US" sz="3800"/>
          </a:p>
        </p:txBody>
      </p:sp>
      <p:sp>
        <p:nvSpPr>
          <p:cNvPr id="5" name="Text 3"/>
          <p:cNvSpPr/>
          <p:nvPr/>
        </p:nvSpPr>
        <p:spPr>
          <a:xfrm>
            <a:off x="914400" y="2651760"/>
            <a:ext cx="7315200" cy="457200"/>
          </a:xfrm>
          <a:prstGeom prst="rect">
            <a:avLst/>
          </a:prstGeom>
          <a:noFill/>
          <a:ln/>
        </p:spPr>
        <p:txBody>
          <a:bodyPr wrap="square" rtlCol="0" anchor="ctr"/>
          <a:lstStyle/>
          <a:p>
            <a:pPr marL="0" indent="0" algn="ctr">
              <a:buNone/>
            </a:pPr>
            <a:r>
              <a:rPr lang="en-US" sz="2000" i="1">
                <a:solidFill>
                  <a:srgbClr val="D4AF37"/>
                </a:solidFill>
              </a:rPr>
              <a:t>Modified Swiss System with Pragmatic Implementation</a:t>
            </a:r>
            <a:endParaRPr lang="en-US" sz="2000"/>
          </a:p>
        </p:txBody>
      </p:sp>
      <p:sp>
        <p:nvSpPr>
          <p:cNvPr id="7" name="Text 5"/>
          <p:cNvSpPr/>
          <p:nvPr/>
        </p:nvSpPr>
        <p:spPr>
          <a:xfrm>
            <a:off x="457200" y="4572000"/>
            <a:ext cx="1828800" cy="274320"/>
          </a:xfrm>
          <a:prstGeom prst="rect">
            <a:avLst/>
          </a:prstGeom>
          <a:noFill/>
          <a:ln/>
        </p:spPr>
        <p:txBody>
          <a:bodyPr wrap="square" rtlCol="0" anchor="ctr"/>
          <a:lstStyle/>
          <a:p>
            <a:pPr marL="0" indent="0">
              <a:buNone/>
            </a:pPr>
            <a:r>
              <a:rPr lang="en-US" sz="1100">
                <a:solidFill>
                  <a:srgbClr val="FFFFFF"/>
                </a:solidFill>
              </a:rPr>
              <a:t>03/03/2026</a:t>
            </a:r>
            <a:endParaRPr lang="en-US" sz="1100"/>
          </a:p>
        </p:txBody>
      </p:sp>
      <p:sp>
        <p:nvSpPr>
          <p:cNvPr id="8" name="Text 6"/>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FFFFFF"/>
                </a:solidFill>
              </a:rPr>
              <a:t>Oregon Cricket League</a:t>
            </a:r>
            <a:endParaRPr lang="en-US" sz="1100"/>
          </a:p>
        </p:txBody>
      </p:sp>
      <p:sp>
        <p:nvSpPr>
          <p:cNvPr id="9" name="Text 7"/>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FFFFFF"/>
                </a:solidFill>
              </a:rPr>
              <a:t>1</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600" b="1">
                <a:solidFill>
                  <a:srgbClr val="1E4D2B"/>
                </a:solidFill>
              </a:rPr>
              <a:t>Executive Summary</a:t>
            </a:r>
            <a:endParaRPr lang="en-US" sz="3600"/>
          </a:p>
        </p:txBody>
      </p:sp>
      <p:sp>
        <p:nvSpPr>
          <p:cNvPr id="3" name="Shape 1"/>
          <p:cNvSpPr/>
          <p:nvPr/>
        </p:nvSpPr>
        <p:spPr>
          <a:xfrm>
            <a:off x="457200" y="1005840"/>
            <a:ext cx="8229600" cy="3383280"/>
          </a:xfrm>
          <a:prstGeom prst="rect">
            <a:avLst/>
          </a:prstGeom>
          <a:solidFill>
            <a:srgbClr val="FFFFFF"/>
          </a:solidFill>
          <a:ln/>
        </p:spPr>
        <p:txBody>
          <a:bodyPr/>
          <a:lstStyle/>
          <a:p>
            <a:endParaRPr lang="en-US"/>
          </a:p>
        </p:txBody>
      </p:sp>
      <p:sp>
        <p:nvSpPr>
          <p:cNvPr id="4" name="Text 2"/>
          <p:cNvSpPr/>
          <p:nvPr/>
        </p:nvSpPr>
        <p:spPr>
          <a:xfrm>
            <a:off x="731520" y="1188720"/>
            <a:ext cx="7680960" cy="3017520"/>
          </a:xfrm>
          <a:prstGeom prst="rect">
            <a:avLst/>
          </a:prstGeom>
          <a:noFill/>
          <a:ln/>
        </p:spPr>
        <p:txBody>
          <a:bodyPr wrap="square" rtlCol="0" anchor="t"/>
          <a:lstStyle/>
          <a:p>
            <a:pPr marL="0" indent="0">
              <a:buNone/>
            </a:pPr>
            <a:r>
              <a:rPr lang="en-US" sz="1400" b="1">
                <a:solidFill>
                  <a:srgbClr val="2C2C2C"/>
                </a:solidFill>
              </a:rPr>
              <a:t>The Opportunity: </a:t>
            </a:r>
            <a:endParaRPr lang="en-US" sz="1200"/>
          </a:p>
          <a:p>
            <a:pPr marL="0" indent="0">
              <a:buNone/>
            </a:pPr>
            <a:r>
              <a:rPr lang="en-US" sz="1200">
                <a:solidFill>
                  <a:srgbClr val="2C2C2C"/>
                </a:solidFill>
              </a:rPr>
              <a:t>Swiss System tournament format offers superior competitive fairness through single unified table and performance-based pairings
</a:t>
            </a:r>
            <a:endParaRPr lang="en-US" sz="1200"/>
          </a:p>
          <a:p>
            <a:pPr marL="0" indent="0">
              <a:buNone/>
            </a:pPr>
            <a:r>
              <a:rPr lang="en-US" sz="1400" b="1">
                <a:solidFill>
                  <a:srgbClr val="2C2C2C"/>
                </a:solidFill>
              </a:rPr>
              <a:t>The Challenge: </a:t>
            </a:r>
            <a:endParaRPr lang="en-US" sz="1200"/>
          </a:p>
          <a:p>
            <a:pPr marL="0" indent="0">
              <a:buNone/>
            </a:pPr>
            <a:r>
              <a:rPr lang="en-US" sz="1200">
                <a:solidFill>
                  <a:srgbClr val="2C2C2C"/>
                </a:solidFill>
              </a:rPr>
              <a:t>Traditional Swiss requires weekly scheduling, creating uncertainty for teams and workload for schedulers
</a:t>
            </a:r>
            <a:endParaRPr lang="en-US" sz="1200"/>
          </a:p>
          <a:p>
            <a:pPr marL="0" indent="0">
              <a:buNone/>
            </a:pPr>
            <a:r>
              <a:rPr lang="en-US" sz="1400" b="1">
                <a:solidFill>
                  <a:srgbClr val="2C2C2C"/>
                </a:solidFill>
              </a:rPr>
              <a:t>The Solution: </a:t>
            </a:r>
            <a:endParaRPr lang="en-US" sz="1200"/>
          </a:p>
          <a:p>
            <a:pPr marL="0" indent="0">
              <a:buNone/>
            </a:pPr>
            <a:r>
              <a:rPr lang="en-US" sz="1200">
                <a:solidFill>
                  <a:srgbClr val="2C2C2C"/>
                </a:solidFill>
              </a:rPr>
              <a:t>Two pragmatic options, both tested via simulation:</a:t>
            </a:r>
            <a:endParaRPr lang="en-US" sz="1200"/>
          </a:p>
          <a:p>
            <a:pPr marL="0" indent="0">
              <a:buNone/>
            </a:pPr>
            <a:r>
              <a:rPr lang="en-US" sz="1200">
                <a:solidFill>
                  <a:srgbClr val="2C2C2C"/>
                </a:solidFill>
              </a:rPr>
              <a:t>   Option A: Modified Swiss - schedule 2 rounds at a time (4 scheduling sessions)
   Option B: Modified Swiss Lite - 4 predetermined rounds + 4 dynamic rounds (2 scheduling sessions)
</a:t>
            </a:r>
            <a:endParaRPr lang="en-US" sz="1200"/>
          </a:p>
          <a:p>
            <a:pPr marL="0" indent="0">
              <a:buNone/>
            </a:pPr>
            <a:r>
              <a:rPr lang="en-US" sz="1400" b="1">
                <a:solidFill>
                  <a:srgbClr val="2C2C2C"/>
                </a:solidFill>
              </a:rPr>
              <a:t>Recommendation: </a:t>
            </a:r>
            <a:endParaRPr lang="en-US" sz="1200"/>
          </a:p>
          <a:p>
            <a:pPr marL="0" indent="0">
              <a:buNone/>
            </a:pPr>
            <a:r>
              <a:rPr lang="en-US" sz="1200">
                <a:solidFill>
                  <a:srgbClr val="2C2C2C"/>
                </a:solidFill>
              </a:rPr>
              <a:t>Start with Option B (Swiss Lite) as one-season trial to validate operational feasibility before committing to full Swiss</a:t>
            </a:r>
            <a:endParaRPr lang="en-US" sz="1200"/>
          </a:p>
        </p:txBody>
      </p:sp>
      <p:sp>
        <p:nvSpPr>
          <p:cNvPr id="5" name="Text 3"/>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6" name="Text 4"/>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7" name="Text 5"/>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600" b="1">
                <a:solidFill>
                  <a:srgbClr val="1E4D2B"/>
                </a:solidFill>
              </a:rPr>
              <a:t>The Problem We're Solving</a:t>
            </a:r>
            <a:endParaRPr lang="en-US" sz="36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400" b="1">
                <a:solidFill>
                  <a:srgbClr val="2C2C2C"/>
                </a:solidFill>
              </a:rPr>
              <a:t>Current Multi-Group Format Issues:</a:t>
            </a:r>
            <a:endParaRPr lang="en-US" sz="1400"/>
          </a:p>
          <a:p>
            <a:pPr marL="342900" indent="-342900">
              <a:buSzPct val="100000"/>
              <a:buChar char="•"/>
            </a:pPr>
            <a:r>
              <a:rPr lang="en-US" sz="1200">
                <a:solidFill>
                  <a:srgbClr val="2C2C2C"/>
                </a:solidFill>
              </a:rPr>
              <a:t>Group imbalances create unfair paths to playoffs</a:t>
            </a:r>
            <a:endParaRPr lang="en-US" sz="1400"/>
          </a:p>
          <a:p>
            <a:pPr marL="342900" indent="-342900">
              <a:buSzPct val="100000"/>
              <a:buChar char="•"/>
            </a:pPr>
            <a:r>
              <a:rPr lang="en-US" sz="1200">
                <a:solidFill>
                  <a:srgbClr val="2C2C2C"/>
                </a:solidFill>
              </a:rPr>
              <a:t>"Group of Death" complaints when strong teams cluster
Mismatches between very strong and very weak teams
Cross-group comparisons for playoff seeding feel arbitrary</a:t>
            </a:r>
          </a:p>
          <a:p>
            <a:pPr marL="342900" indent="-342900">
              <a:buSzPct val="100000"/>
              <a:buChar char="•"/>
            </a:pPr>
            <a:endParaRPr lang="en-US" sz="1400"/>
          </a:p>
          <a:p>
            <a:pPr marL="0" indent="0">
              <a:buNone/>
            </a:pPr>
            <a:r>
              <a:rPr lang="en-US" sz="1400" b="1">
                <a:solidFill>
                  <a:srgbClr val="2C2C2C"/>
                </a:solidFill>
              </a:rPr>
              <a:t>What Teams Have Told Us:</a:t>
            </a:r>
            <a:endParaRPr lang="en-US" sz="1400"/>
          </a:p>
          <a:p>
            <a:pPr marL="342900" indent="-342900">
              <a:buSzPct val="100000"/>
              <a:buChar char="•"/>
            </a:pPr>
            <a:r>
              <a:rPr lang="en-US" sz="1200">
                <a:solidFill>
                  <a:srgbClr val="2C2C2C"/>
                </a:solidFill>
              </a:rPr>
              <a:t>Proposal for Divisions (like 30-30) stems from mismatch frustration</a:t>
            </a:r>
            <a:endParaRPr lang="en-US" sz="1400"/>
          </a:p>
          <a:p>
            <a:pPr marL="342900" indent="-342900">
              <a:buSzPct val="100000"/>
              <a:buChar char="•"/>
            </a:pPr>
            <a:r>
              <a:rPr lang="en-US" sz="1200">
                <a:solidFill>
                  <a:srgbClr val="2C2C2C"/>
                </a:solidFill>
              </a:rPr>
              <a:t>Teams want schedule predictability for player availability planning
Desire for fair competition where performance matters more than group assignment</a:t>
            </a:r>
          </a:p>
          <a:p>
            <a:pPr marL="342900" indent="-342900">
              <a:buSzPct val="100000"/>
              <a:buChar char="•"/>
            </a:pPr>
            <a:endParaRPr lang="en-US" sz="1400"/>
          </a:p>
          <a:p>
            <a:pPr marL="0" indent="0">
              <a:buNone/>
            </a:pPr>
            <a:r>
              <a:rPr lang="en-US" sz="1400" b="1">
                <a:solidFill>
                  <a:srgbClr val="2C2C2C"/>
                </a:solidFill>
              </a:rPr>
              <a:t>What IPL Playoff Proposal Revealed:</a:t>
            </a:r>
            <a:endParaRPr lang="en-US" sz="1400"/>
          </a:p>
          <a:p>
            <a:pPr marL="342900" indent="-342900">
              <a:buSzPct val="100000"/>
              <a:buChar char="•"/>
            </a:pPr>
            <a:r>
              <a:rPr lang="en-US" sz="1200">
                <a:solidFill>
                  <a:srgbClr val="2C2C2C"/>
                </a:solidFill>
              </a:rPr>
              <a:t>Multi-group format makes it difficult to establish clear 1st-4th place seeding
Need single unified standings table for fair playoff implementation</a:t>
            </a:r>
            <a:endParaRPr lang="en-US" sz="14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600" b="1">
                <a:solidFill>
                  <a:srgbClr val="1E4D2B"/>
                </a:solidFill>
              </a:rPr>
              <a:t>Swiss System Tournament Format</a:t>
            </a:r>
            <a:endParaRPr lang="en-US" sz="3600"/>
          </a:p>
        </p:txBody>
      </p:sp>
      <p:sp>
        <p:nvSpPr>
          <p:cNvPr id="3" name="Text 1"/>
          <p:cNvSpPr/>
          <p:nvPr/>
        </p:nvSpPr>
        <p:spPr>
          <a:xfrm>
            <a:off x="8412480" y="274320"/>
            <a:ext cx="457200" cy="457200"/>
          </a:xfrm>
          <a:prstGeom prst="rect">
            <a:avLst/>
          </a:prstGeom>
          <a:noFill/>
          <a:ln/>
        </p:spPr>
        <p:txBody>
          <a:bodyPr wrap="square" rtlCol="0" anchor="ctr"/>
          <a:lstStyle/>
          <a:p>
            <a:pPr marL="0" indent="0">
              <a:buNone/>
            </a:pPr>
            <a:r>
              <a:rPr lang="en-US" sz="2400">
                <a:solidFill>
                  <a:srgbClr val="000000"/>
                </a:solidFill>
              </a:rPr>
              <a:t>🏏</a:t>
            </a:r>
            <a:endParaRPr lang="en-US" sz="2400"/>
          </a:p>
        </p:txBody>
      </p:sp>
      <p:sp>
        <p:nvSpPr>
          <p:cNvPr id="4" name="Text 2"/>
          <p:cNvSpPr/>
          <p:nvPr/>
        </p:nvSpPr>
        <p:spPr>
          <a:xfrm>
            <a:off x="457200" y="914400"/>
            <a:ext cx="8229600" cy="3474720"/>
          </a:xfrm>
          <a:prstGeom prst="rect">
            <a:avLst/>
          </a:prstGeom>
          <a:noFill/>
          <a:ln/>
        </p:spPr>
        <p:txBody>
          <a:bodyPr wrap="square" rtlCol="0" anchor="t"/>
          <a:lstStyle/>
          <a:p>
            <a:pPr marL="0" indent="0">
              <a:buNone/>
            </a:pPr>
            <a:r>
              <a:rPr lang="en-US" sz="1600" b="1">
                <a:solidFill>
                  <a:srgbClr val="2C2C2C"/>
                </a:solidFill>
              </a:rPr>
              <a:t>Core Principles:</a:t>
            </a:r>
            <a:endParaRPr lang="en-US" sz="1400"/>
          </a:p>
          <a:p>
            <a:pPr marL="0" indent="0">
              <a:buNone/>
            </a:pPr>
            <a:r>
              <a:rPr lang="en-US" sz="1400">
                <a:solidFill>
                  <a:srgbClr val="2C2C2C"/>
                </a:solidFill>
              </a:rPr>
              <a:t>• </a:t>
            </a:r>
            <a:r>
              <a:rPr lang="en-US" sz="1400" b="1">
                <a:solidFill>
                  <a:srgbClr val="2C2C2C"/>
                </a:solidFill>
              </a:rPr>
              <a:t>Single unified points table</a:t>
            </a:r>
            <a:r>
              <a:rPr lang="en-US" sz="1400">
                <a:solidFill>
                  <a:srgbClr val="2C2C2C"/>
                </a:solidFill>
              </a:rPr>
              <a:t> - no groups, one clear ranking 1-23</a:t>
            </a:r>
            <a:endParaRPr lang="en-US" sz="1400"/>
          </a:p>
          <a:p>
            <a:pPr marL="0" indent="0">
              <a:buNone/>
            </a:pPr>
            <a:r>
              <a:rPr lang="en-US" sz="1400">
                <a:solidFill>
                  <a:srgbClr val="2C2C2C"/>
                </a:solidFill>
              </a:rPr>
              <a:t>• </a:t>
            </a:r>
            <a:r>
              <a:rPr lang="en-US" sz="1400" b="1">
                <a:solidFill>
                  <a:srgbClr val="2C2C2C"/>
                </a:solidFill>
              </a:rPr>
              <a:t>Performance-based pairing</a:t>
            </a:r>
            <a:r>
              <a:rPr lang="en-US" sz="1400">
                <a:solidFill>
                  <a:srgbClr val="2C2C2C"/>
                </a:solidFill>
              </a:rPr>
              <a:t> - teams with similar records play each other
• </a:t>
            </a:r>
            <a:r>
              <a:rPr lang="en-US" sz="1400" b="1">
                <a:solidFill>
                  <a:srgbClr val="2C2C2C"/>
                </a:solidFill>
              </a:rPr>
              <a:t>No elimination</a:t>
            </a:r>
            <a:r>
              <a:rPr lang="en-US" sz="1400">
                <a:solidFill>
                  <a:srgbClr val="2C2C2C"/>
                </a:solidFill>
              </a:rPr>
              <a:t> - everyone plays all rounds regardless of results
• </a:t>
            </a:r>
            <a:r>
              <a:rPr lang="en-US" sz="1400" b="1">
                <a:solidFill>
                  <a:srgbClr val="2C2C2C"/>
                </a:solidFill>
              </a:rPr>
              <a:t>No repeat opponents</a:t>
            </a:r>
            <a:r>
              <a:rPr lang="en-US" sz="1400">
                <a:solidFill>
                  <a:srgbClr val="2C2C2C"/>
                </a:solidFill>
              </a:rPr>
              <a:t> - each team is a fresh matchup
</a:t>
            </a:r>
            <a:endParaRPr lang="en-US" sz="1400"/>
          </a:p>
          <a:p>
            <a:pPr marL="0" indent="0">
              <a:buNone/>
            </a:pPr>
            <a:r>
              <a:rPr lang="en-US" sz="1600" b="1">
                <a:solidFill>
                  <a:srgbClr val="2C2C2C"/>
                </a:solidFill>
              </a:rPr>
              <a:t>How It Works:
</a:t>
            </a:r>
            <a:r>
              <a:rPr lang="en-US" sz="1400">
                <a:solidFill>
                  <a:srgbClr val="2C2C2C"/>
                </a:solidFill>
              </a:rPr>
              <a:t>1. Early rounds: Strong teams rise, weak teams settle, middle becomes clear
2. Later rounds: Competitive balance emerges as similar-strength teams face each other
3. Final standings: Clear performance-based ranking from 1st to 23rd
</a:t>
            </a:r>
            <a:endParaRPr lang="en-US" sz="1400"/>
          </a:p>
          <a:p>
            <a:pPr marL="0" indent="0">
              <a:buNone/>
            </a:pPr>
            <a:r>
              <a:rPr lang="en-US" sz="1600" b="1">
                <a:solidFill>
                  <a:srgbClr val="2C2C2C"/>
                </a:solidFill>
              </a:rPr>
              <a:t>Used Successfully In:
</a:t>
            </a:r>
            <a:r>
              <a:rPr lang="en-US" sz="1400" i="1">
                <a:solidFill>
                  <a:srgbClr val="2C2C2C"/>
                </a:solidFill>
              </a:rPr>
              <a:t>Chess tournaments, esports leagues, bridge competitions, Go tournaments</a:t>
            </a:r>
            <a:endParaRPr lang="en-US" sz="1400"/>
          </a:p>
        </p:txBody>
      </p:sp>
      <p:sp>
        <p:nvSpPr>
          <p:cNvPr id="5" name="Text 3"/>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6" name="Text 4"/>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7" name="Text 5"/>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600" b="1">
                <a:solidFill>
                  <a:srgbClr val="1E4D2B"/>
                </a:solidFill>
              </a:rPr>
              <a:t>Why Swiss System for OCL?</a:t>
            </a:r>
            <a:endParaRPr lang="en-US" sz="3600"/>
          </a:p>
        </p:txBody>
      </p:sp>
      <p:sp>
        <p:nvSpPr>
          <p:cNvPr id="3" name="Shape 1"/>
          <p:cNvSpPr/>
          <p:nvPr/>
        </p:nvSpPr>
        <p:spPr>
          <a:xfrm>
            <a:off x="457200" y="1005840"/>
            <a:ext cx="3931920" cy="3291840"/>
          </a:xfrm>
          <a:prstGeom prst="rect">
            <a:avLst/>
          </a:prstGeom>
          <a:solidFill>
            <a:srgbClr val="FFFFFF"/>
          </a:solidFill>
          <a:ln w="38100">
            <a:solidFill>
              <a:srgbClr val="27AE60"/>
            </a:solidFill>
            <a:prstDash val="solid"/>
          </a:ln>
        </p:spPr>
        <p:txBody>
          <a:bodyPr/>
          <a:lstStyle/>
          <a:p>
            <a:endParaRPr lang="en-US"/>
          </a:p>
        </p:txBody>
      </p:sp>
      <p:sp>
        <p:nvSpPr>
          <p:cNvPr id="4" name="Text 2"/>
          <p:cNvSpPr/>
          <p:nvPr/>
        </p:nvSpPr>
        <p:spPr>
          <a:xfrm>
            <a:off x="457200" y="1097280"/>
            <a:ext cx="3931920" cy="365760"/>
          </a:xfrm>
          <a:prstGeom prst="rect">
            <a:avLst/>
          </a:prstGeom>
          <a:noFill/>
          <a:ln/>
        </p:spPr>
        <p:txBody>
          <a:bodyPr wrap="square" rtlCol="0" anchor="ctr"/>
          <a:lstStyle/>
          <a:p>
            <a:pPr marL="0" indent="0" algn="ctr">
              <a:buNone/>
            </a:pPr>
            <a:r>
              <a:rPr lang="en-US" sz="1800" b="1">
                <a:solidFill>
                  <a:srgbClr val="27AE60"/>
                </a:solidFill>
              </a:rPr>
              <a:t>Competitive Fairness</a:t>
            </a:r>
            <a:endParaRPr lang="en-US" sz="1800"/>
          </a:p>
        </p:txBody>
      </p:sp>
      <p:sp>
        <p:nvSpPr>
          <p:cNvPr id="5" name="Text 3"/>
          <p:cNvSpPr/>
          <p:nvPr/>
        </p:nvSpPr>
        <p:spPr>
          <a:xfrm>
            <a:off x="640080" y="1554480"/>
            <a:ext cx="3566160" cy="2560320"/>
          </a:xfrm>
          <a:prstGeom prst="rect">
            <a:avLst/>
          </a:prstGeom>
          <a:noFill/>
          <a:ln/>
        </p:spPr>
        <p:txBody>
          <a:bodyPr wrap="square" rtlCol="0" anchor="t"/>
          <a:lstStyle/>
          <a:p>
            <a:pPr marL="342900" indent="-342900">
              <a:buSzPct val="100000"/>
              <a:buChar char="•"/>
            </a:pPr>
            <a:r>
              <a:rPr lang="en-US" sz="1300">
                <a:solidFill>
                  <a:srgbClr val="2C2C2C"/>
                </a:solidFill>
              </a:rPr>
              <a:t>Eliminates group imbalance problem</a:t>
            </a:r>
            <a:endParaRPr lang="en-US" sz="1300"/>
          </a:p>
          <a:p>
            <a:pPr marL="342900" indent="-342900">
              <a:buSzPct val="100000"/>
              <a:buChar char="•"/>
            </a:pPr>
            <a:r>
              <a:rPr lang="en-US" sz="1300">
                <a:solidFill>
                  <a:srgbClr val="2C2C2C"/>
                </a:solidFill>
              </a:rPr>
              <a:t>Minimizes mismatches (strong vs weak)
Performance-based rankings (not luck of draw)
One bad game doesn't eliminate contenders
Clear 1-4 seeding for playoffs
Lower-seeded teams can climb through good play</a:t>
            </a:r>
            <a:endParaRPr lang="en-US" sz="1300"/>
          </a:p>
        </p:txBody>
      </p:sp>
      <p:sp>
        <p:nvSpPr>
          <p:cNvPr id="6" name="Shape 4"/>
          <p:cNvSpPr/>
          <p:nvPr/>
        </p:nvSpPr>
        <p:spPr>
          <a:xfrm>
            <a:off x="4754880" y="1005840"/>
            <a:ext cx="3931920" cy="3291840"/>
          </a:xfrm>
          <a:prstGeom prst="rect">
            <a:avLst/>
          </a:prstGeom>
          <a:solidFill>
            <a:srgbClr val="FFFFFF"/>
          </a:solidFill>
          <a:ln w="38100">
            <a:solidFill>
              <a:srgbClr val="D4AF37"/>
            </a:solidFill>
            <a:prstDash val="solid"/>
          </a:ln>
        </p:spPr>
        <p:txBody>
          <a:bodyPr/>
          <a:lstStyle/>
          <a:p>
            <a:endParaRPr lang="en-US"/>
          </a:p>
        </p:txBody>
      </p:sp>
      <p:sp>
        <p:nvSpPr>
          <p:cNvPr id="7" name="Text 5"/>
          <p:cNvSpPr/>
          <p:nvPr/>
        </p:nvSpPr>
        <p:spPr>
          <a:xfrm>
            <a:off x="4754880" y="1097280"/>
            <a:ext cx="3931920" cy="365760"/>
          </a:xfrm>
          <a:prstGeom prst="rect">
            <a:avLst/>
          </a:prstGeom>
          <a:noFill/>
          <a:ln/>
        </p:spPr>
        <p:txBody>
          <a:bodyPr wrap="square" rtlCol="0" anchor="ctr"/>
          <a:lstStyle/>
          <a:p>
            <a:pPr marL="0" indent="0" algn="ctr">
              <a:buNone/>
            </a:pPr>
            <a:r>
              <a:rPr lang="en-US" sz="1800" b="1">
                <a:solidFill>
                  <a:srgbClr val="D4AF37"/>
                </a:solidFill>
              </a:rPr>
              <a:t>Practical Advantages</a:t>
            </a:r>
            <a:endParaRPr lang="en-US" sz="1800"/>
          </a:p>
        </p:txBody>
      </p:sp>
      <p:sp>
        <p:nvSpPr>
          <p:cNvPr id="8" name="Text 6"/>
          <p:cNvSpPr/>
          <p:nvPr/>
        </p:nvSpPr>
        <p:spPr>
          <a:xfrm>
            <a:off x="4937760" y="1554480"/>
            <a:ext cx="3566160" cy="2560320"/>
          </a:xfrm>
          <a:prstGeom prst="rect">
            <a:avLst/>
          </a:prstGeom>
          <a:noFill/>
          <a:ln/>
        </p:spPr>
        <p:txBody>
          <a:bodyPr wrap="square" rtlCol="0" anchor="t"/>
          <a:lstStyle/>
          <a:p>
            <a:pPr marL="342900" indent="-342900">
              <a:buSzPct val="100000"/>
              <a:buChar char="•"/>
            </a:pPr>
            <a:r>
              <a:rPr lang="en-US" sz="1300">
                <a:solidFill>
                  <a:srgbClr val="2C2C2C"/>
                </a:solidFill>
              </a:rPr>
              <a:t>Scales efficiently to 23+ teams
Fewer rounds than full round-robin
Compatible with IPL playoff format
Addresses team complaints about divisions
Single table easier to understand
Creates exciting competitive narrative</a:t>
            </a:r>
            <a:endParaRPr lang="en-US" sz="1300"/>
          </a:p>
        </p:txBody>
      </p:sp>
      <p:sp>
        <p:nvSpPr>
          <p:cNvPr id="9" name="Text 7"/>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10" name="Text 8"/>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11" name="Text 9"/>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5</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5E6"/>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200" b="1">
                <a:solidFill>
                  <a:srgbClr val="E67E22"/>
                </a:solidFill>
              </a:rPr>
              <a:t>The Operational Reality: Let's Be Honest</a:t>
            </a:r>
            <a:endParaRPr lang="en-US" sz="32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600" b="1">
                <a:solidFill>
                  <a:srgbClr val="2C2C2C"/>
                </a:solidFill>
              </a:rPr>
              <a:t>Traditional Swiss System Challenges:</a:t>
            </a:r>
            <a:endParaRPr lang="en-US" sz="1600"/>
          </a:p>
          <a:p>
            <a:pPr marL="0" indent="0">
              <a:buNone/>
            </a:pPr>
            <a:r>
              <a:rPr lang="en-US" sz="1400">
                <a:solidFill>
                  <a:srgbClr val="2C2C2C"/>
                </a:solidFill>
              </a:rPr>
              <a:t>• Requires scheduling </a:t>
            </a:r>
            <a:r>
              <a:rPr lang="en-US" sz="1400" b="1">
                <a:solidFill>
                  <a:srgbClr val="2C2C2C"/>
                </a:solidFill>
              </a:rPr>
              <a:t>every single week</a:t>
            </a:r>
            <a:r>
              <a:rPr lang="en-US" sz="1400">
                <a:solidFill>
                  <a:srgbClr val="2C2C2C"/>
                </a:solidFill>
              </a:rPr>
              <a:t> (8 sessions total)</a:t>
            </a:r>
            <a:endParaRPr lang="en-US" sz="1600"/>
          </a:p>
          <a:p>
            <a:pPr marL="0" indent="0">
              <a:buNone/>
            </a:pPr>
            <a:r>
              <a:rPr lang="en-US" sz="1400">
                <a:solidFill>
                  <a:srgbClr val="2C2C2C"/>
                </a:solidFill>
              </a:rPr>
              <a:t>• Teams know opponent only </a:t>
            </a:r>
            <a:r>
              <a:rPr lang="en-US" sz="1400" b="1">
                <a:solidFill>
                  <a:srgbClr val="2C2C2C"/>
                </a:solidFill>
              </a:rPr>
              <a:t>1 week in advance</a:t>
            </a:r>
            <a:r>
              <a:rPr lang="en-US" sz="1400">
                <a:solidFill>
                  <a:srgbClr val="2C2C2C"/>
                </a:solidFill>
              </a:rPr>
              <a:t> - hard for amateur players with day jobs</a:t>
            </a:r>
            <a:endParaRPr lang="en-US" sz="1600"/>
          </a:p>
          <a:p>
            <a:pPr marL="0" indent="0">
              <a:buNone/>
            </a:pPr>
            <a:r>
              <a:rPr lang="en-US" sz="1400">
                <a:solidFill>
                  <a:srgbClr val="2C2C2C"/>
                </a:solidFill>
              </a:rPr>
              <a:t>• Scheduler workload: "</a:t>
            </a:r>
            <a:r>
              <a:rPr lang="en-US" sz="1400" i="1">
                <a:solidFill>
                  <a:srgbClr val="2C2C2C"/>
                </a:solidFill>
              </a:rPr>
              <a:t>burn the midnight oil every Sunday</a:t>
            </a:r>
            <a:r>
              <a:rPr lang="en-US" sz="1400">
                <a:solidFill>
                  <a:srgbClr val="2C2C2C"/>
                </a:solidFill>
              </a:rPr>
              <a:t>"</a:t>
            </a:r>
            <a:endParaRPr lang="en-US" sz="1600"/>
          </a:p>
          <a:p>
            <a:pPr marL="0" indent="0">
              <a:buNone/>
            </a:pPr>
            <a:r>
              <a:rPr lang="en-US" sz="1400">
                <a:solidFill>
                  <a:srgbClr val="2C2C2C"/>
                </a:solidFill>
              </a:rPr>
              <a:t>• Software dependency for automated pairing</a:t>
            </a:r>
            <a:endParaRPr lang="en-US" sz="1600"/>
          </a:p>
          <a:p>
            <a:pPr marL="0" indent="0">
              <a:buNone/>
            </a:pPr>
            <a:r>
              <a:rPr lang="en-US" sz="1400">
                <a:solidFill>
                  <a:srgbClr val="2C2C2C"/>
                </a:solidFill>
              </a:rPr>
              <a:t>• No backup plan if scheduler unavailable mid-season
</a:t>
            </a:r>
            <a:endParaRPr lang="en-US" sz="1600"/>
          </a:p>
          <a:p>
            <a:pPr marL="0" indent="0">
              <a:buNone/>
            </a:pPr>
            <a:r>
              <a:rPr lang="en-US" sz="1600" b="1">
                <a:solidFill>
                  <a:srgbClr val="C0392B"/>
                </a:solidFill>
              </a:rPr>
              <a:t>Risk Assessment:
</a:t>
            </a:r>
            <a:r>
              <a:rPr lang="en-US" sz="1400" i="1">
                <a:solidFill>
                  <a:srgbClr val="2C2C2C"/>
                </a:solidFill>
              </a:rPr>
              <a:t>If we adopt full Swiss and operational challenges cause mid-season chaos, the format gets blamed and we revert to traditional forever
</a:t>
            </a:r>
            <a:endParaRPr lang="en-US" sz="1600"/>
          </a:p>
          <a:p>
            <a:pPr marL="0" indent="0">
              <a:buNone/>
            </a:pPr>
            <a:r>
              <a:rPr lang="en-US" sz="1600" b="1">
                <a:solidFill>
                  <a:srgbClr val="27AE60"/>
                </a:solidFill>
              </a:rPr>
              <a:t>Better Approach:
</a:t>
            </a:r>
            <a:r>
              <a:rPr lang="en-US" sz="1400" b="1">
                <a:solidFill>
                  <a:srgbClr val="2C2C2C"/>
                </a:solidFill>
              </a:rPr>
              <a:t>Start with pragmatic implementation that reduces risk while preserving competitive benefits</a:t>
            </a:r>
            <a:endParaRPr lang="en-US" sz="16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6</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4AF37"/>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marL="0" indent="0" algn="ctr">
              <a:buNone/>
            </a:pPr>
            <a:r>
              <a:rPr lang="en-US" sz="3600" b="1">
                <a:solidFill>
                  <a:srgbClr val="FFFFFF"/>
                </a:solidFill>
              </a:rPr>
              <a:t>Two Pragmatic Implementation Options</a:t>
            </a:r>
            <a:endParaRPr lang="en-US" sz="3600"/>
          </a:p>
        </p:txBody>
      </p:sp>
      <p:sp>
        <p:nvSpPr>
          <p:cNvPr id="3" name="Shape 1"/>
          <p:cNvSpPr/>
          <p:nvPr/>
        </p:nvSpPr>
        <p:spPr>
          <a:xfrm>
            <a:off x="457200" y="1280160"/>
            <a:ext cx="3931920" cy="2926080"/>
          </a:xfrm>
          <a:prstGeom prst="rect">
            <a:avLst/>
          </a:prstGeom>
          <a:solidFill>
            <a:srgbClr val="FFFFFF"/>
          </a:solidFill>
          <a:ln/>
        </p:spPr>
        <p:txBody>
          <a:bodyPr/>
          <a:lstStyle/>
          <a:p>
            <a:endParaRPr lang="en-US"/>
          </a:p>
        </p:txBody>
      </p:sp>
      <p:sp>
        <p:nvSpPr>
          <p:cNvPr id="4" name="Text 2"/>
          <p:cNvSpPr/>
          <p:nvPr/>
        </p:nvSpPr>
        <p:spPr>
          <a:xfrm>
            <a:off x="457200" y="1371600"/>
            <a:ext cx="3931920" cy="365760"/>
          </a:xfrm>
          <a:prstGeom prst="rect">
            <a:avLst/>
          </a:prstGeom>
          <a:noFill/>
          <a:ln/>
        </p:spPr>
        <p:txBody>
          <a:bodyPr wrap="square" rtlCol="0" anchor="ctr"/>
          <a:lstStyle/>
          <a:p>
            <a:pPr marL="0" indent="0" algn="ctr">
              <a:buNone/>
            </a:pPr>
            <a:r>
              <a:rPr lang="en-US" sz="1600" b="1">
                <a:solidFill>
                  <a:srgbClr val="1E4D2B"/>
                </a:solidFill>
              </a:rPr>
              <a:t>Option A: Modified Swiss</a:t>
            </a:r>
            <a:endParaRPr lang="en-US" sz="1600"/>
          </a:p>
        </p:txBody>
      </p:sp>
      <p:sp>
        <p:nvSpPr>
          <p:cNvPr id="5" name="Text 3"/>
          <p:cNvSpPr/>
          <p:nvPr/>
        </p:nvSpPr>
        <p:spPr>
          <a:xfrm>
            <a:off x="640080" y="1828800"/>
            <a:ext cx="3566160" cy="2194560"/>
          </a:xfrm>
          <a:prstGeom prst="rect">
            <a:avLst/>
          </a:prstGeom>
          <a:noFill/>
          <a:ln/>
        </p:spPr>
        <p:txBody>
          <a:bodyPr wrap="square" rtlCol="0" anchor="t"/>
          <a:lstStyle/>
          <a:p>
            <a:pPr marL="0" indent="0">
              <a:buNone/>
            </a:pPr>
            <a:r>
              <a:rPr lang="en-US" sz="1300">
                <a:solidFill>
                  <a:srgbClr val="2C2C2C"/>
                </a:solidFill>
              </a:rPr>
              <a:t>Schedule 2 rounds at a time
</a:t>
            </a:r>
            <a:endParaRPr lang="en-US" sz="1300"/>
          </a:p>
          <a:p>
            <a:pPr marL="0" indent="0">
              <a:buNone/>
            </a:pPr>
            <a:r>
              <a:rPr lang="en-US" sz="1200">
                <a:solidFill>
                  <a:srgbClr val="2C2C2C"/>
                </a:solidFill>
              </a:rPr>
              <a:t>• Rounds 1-2: Scheduled at start
</a:t>
            </a:r>
            <a:endParaRPr lang="en-US" sz="1300"/>
          </a:p>
          <a:p>
            <a:pPr marL="0" indent="0">
              <a:buNone/>
            </a:pPr>
            <a:r>
              <a:rPr lang="en-US" sz="1200">
                <a:solidFill>
                  <a:srgbClr val="2C2C2C"/>
                </a:solidFill>
              </a:rPr>
              <a:t>• Rounds 3-4: After Round 2 complete
</a:t>
            </a:r>
            <a:endParaRPr lang="en-US" sz="1300"/>
          </a:p>
          <a:p>
            <a:pPr marL="0" indent="0">
              <a:buNone/>
            </a:pPr>
            <a:r>
              <a:rPr lang="en-US" sz="1200">
                <a:solidFill>
                  <a:srgbClr val="2C2C2C"/>
                </a:solidFill>
              </a:rPr>
              <a:t>• Rounds 5-6: After Round 4 complete
</a:t>
            </a:r>
            <a:endParaRPr lang="en-US" sz="1300"/>
          </a:p>
          <a:p>
            <a:pPr marL="0" indent="0">
              <a:buNone/>
            </a:pPr>
            <a:r>
              <a:rPr lang="en-US" sz="1200">
                <a:solidFill>
                  <a:srgbClr val="2C2C2C"/>
                </a:solidFill>
              </a:rPr>
              <a:t>• Rounds 7-8: After Round 6 complete
</a:t>
            </a:r>
            <a:endParaRPr lang="en-US" sz="1300"/>
          </a:p>
          <a:p>
            <a:pPr marL="0" indent="0">
              <a:buNone/>
            </a:pPr>
            <a:r>
              <a:rPr lang="en-US" sz="1200" b="1">
                <a:solidFill>
                  <a:srgbClr val="2C2C2C"/>
                </a:solidFill>
              </a:rPr>
              <a:t>Result: </a:t>
            </a:r>
            <a:r>
              <a:rPr lang="en-US" sz="1200">
                <a:solidFill>
                  <a:srgbClr val="2C2C2C"/>
                </a:solidFill>
              </a:rPr>
              <a:t>4 scheduling sessions, 2-week visibility</a:t>
            </a:r>
            <a:endParaRPr lang="en-US" sz="1300"/>
          </a:p>
        </p:txBody>
      </p:sp>
      <p:sp>
        <p:nvSpPr>
          <p:cNvPr id="6" name="Shape 4"/>
          <p:cNvSpPr/>
          <p:nvPr/>
        </p:nvSpPr>
        <p:spPr>
          <a:xfrm>
            <a:off x="4754880" y="1280160"/>
            <a:ext cx="3931920" cy="2926080"/>
          </a:xfrm>
          <a:prstGeom prst="rect">
            <a:avLst/>
          </a:prstGeom>
          <a:solidFill>
            <a:srgbClr val="FFFFFF"/>
          </a:solidFill>
          <a:ln/>
        </p:spPr>
        <p:txBody>
          <a:bodyPr/>
          <a:lstStyle/>
          <a:p>
            <a:endParaRPr lang="en-US"/>
          </a:p>
        </p:txBody>
      </p:sp>
      <p:sp>
        <p:nvSpPr>
          <p:cNvPr id="7" name="Text 5"/>
          <p:cNvSpPr/>
          <p:nvPr/>
        </p:nvSpPr>
        <p:spPr>
          <a:xfrm>
            <a:off x="4754880" y="1371600"/>
            <a:ext cx="3931920" cy="365760"/>
          </a:xfrm>
          <a:prstGeom prst="rect">
            <a:avLst/>
          </a:prstGeom>
          <a:noFill/>
          <a:ln/>
        </p:spPr>
        <p:txBody>
          <a:bodyPr wrap="square" rtlCol="0" anchor="ctr"/>
          <a:lstStyle/>
          <a:p>
            <a:pPr marL="0" indent="0" algn="ctr">
              <a:buNone/>
            </a:pPr>
            <a:r>
              <a:rPr lang="en-US" sz="1600" b="1">
                <a:solidFill>
                  <a:srgbClr val="27AE60"/>
                </a:solidFill>
              </a:rPr>
              <a:t>Option B: Modified Swiss Lite</a:t>
            </a:r>
            <a:endParaRPr lang="en-US" sz="1600"/>
          </a:p>
        </p:txBody>
      </p:sp>
      <p:sp>
        <p:nvSpPr>
          <p:cNvPr id="8" name="Text 6"/>
          <p:cNvSpPr/>
          <p:nvPr/>
        </p:nvSpPr>
        <p:spPr>
          <a:xfrm>
            <a:off x="4937760" y="1828800"/>
            <a:ext cx="3566160" cy="2194560"/>
          </a:xfrm>
          <a:prstGeom prst="rect">
            <a:avLst/>
          </a:prstGeom>
          <a:noFill/>
          <a:ln/>
        </p:spPr>
        <p:txBody>
          <a:bodyPr wrap="square" rtlCol="0" anchor="t"/>
          <a:lstStyle/>
          <a:p>
            <a:pPr marL="0" indent="0">
              <a:buNone/>
            </a:pPr>
            <a:r>
              <a:rPr lang="en-US" sz="1300">
                <a:solidFill>
                  <a:srgbClr val="2C2C2C"/>
                </a:solidFill>
              </a:rPr>
              <a:t>4 predetermined + 4 dynamic rounds
</a:t>
            </a:r>
            <a:endParaRPr lang="en-US" sz="1300"/>
          </a:p>
          <a:p>
            <a:pPr marL="0" indent="0">
              <a:buNone/>
            </a:pPr>
            <a:r>
              <a:rPr lang="en-US" sz="1200">
                <a:solidFill>
                  <a:srgbClr val="2C2C2C"/>
                </a:solidFill>
              </a:rPr>
              <a:t>• Rounds 1-4: Fully scheduled upfront using seeding
</a:t>
            </a:r>
            <a:endParaRPr lang="en-US" sz="1300"/>
          </a:p>
          <a:p>
            <a:pPr marL="0" indent="0">
              <a:buNone/>
            </a:pPr>
            <a:r>
              <a:rPr lang="en-US" sz="1200">
                <a:solidFill>
                  <a:srgbClr val="2C2C2C"/>
                </a:solidFill>
              </a:rPr>
              <a:t>• Rounds 5-6: Swiss pairing after Round 4
</a:t>
            </a:r>
            <a:endParaRPr lang="en-US" sz="1300"/>
          </a:p>
          <a:p>
            <a:pPr marL="0" indent="0">
              <a:buNone/>
            </a:pPr>
            <a:r>
              <a:rPr lang="en-US" sz="1200">
                <a:solidFill>
                  <a:srgbClr val="2C2C2C"/>
                </a:solidFill>
              </a:rPr>
              <a:t>• Rounds 7-8: Swiss pairing after Round 6
</a:t>
            </a:r>
            <a:endParaRPr lang="en-US" sz="1300"/>
          </a:p>
          <a:p>
            <a:pPr marL="0" indent="0">
              <a:buNone/>
            </a:pPr>
            <a:r>
              <a:rPr lang="en-US" sz="1200" b="1">
                <a:solidFill>
                  <a:srgbClr val="2C2C2C"/>
                </a:solidFill>
              </a:rPr>
              <a:t>Result: </a:t>
            </a:r>
            <a:r>
              <a:rPr lang="en-US" sz="1200">
                <a:solidFill>
                  <a:srgbClr val="2C2C2C"/>
                </a:solidFill>
              </a:rPr>
              <a:t>2 scheduling sessions, 4-week initial visibility</a:t>
            </a:r>
            <a:endParaRPr lang="en-US" sz="1300"/>
          </a:p>
          <a:p>
            <a:pPr marL="0" indent="0">
              <a:buNone/>
            </a:pPr>
            <a:endParaRPr lang="en-US" sz="1300"/>
          </a:p>
          <a:p>
            <a:pPr marL="0" indent="0">
              <a:buNone/>
            </a:pPr>
            <a:r>
              <a:rPr lang="en-US" sz="1200" b="1" i="1">
                <a:solidFill>
                  <a:srgbClr val="27AE60"/>
                </a:solidFill>
              </a:rPr>
              <a:t>Recommended for first-year trial</a:t>
            </a:r>
            <a:endParaRPr lang="en-US" sz="1300"/>
          </a:p>
        </p:txBody>
      </p:sp>
      <p:sp>
        <p:nvSpPr>
          <p:cNvPr id="9" name="Text 7"/>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10" name="Text 8"/>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11" name="Text 9"/>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7</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200" b="1">
                <a:solidFill>
                  <a:srgbClr val="1E4D2B"/>
                </a:solidFill>
              </a:rPr>
              <a:t>Modified Swiss Lite: Detailed Implementation</a:t>
            </a:r>
            <a:endParaRPr lang="en-US" sz="3200"/>
          </a:p>
        </p:txBody>
      </p:sp>
      <p:sp>
        <p:nvSpPr>
          <p:cNvPr id="3" name="Shape 1"/>
          <p:cNvSpPr/>
          <p:nvPr/>
        </p:nvSpPr>
        <p:spPr>
          <a:xfrm>
            <a:off x="457200" y="1005840"/>
            <a:ext cx="3931920" cy="3291840"/>
          </a:xfrm>
          <a:prstGeom prst="rect">
            <a:avLst/>
          </a:prstGeom>
          <a:solidFill>
            <a:srgbClr val="E8F8F5"/>
          </a:solidFill>
          <a:ln w="25400">
            <a:solidFill>
              <a:srgbClr val="27AE60"/>
            </a:solidFill>
            <a:prstDash val="solid"/>
          </a:ln>
        </p:spPr>
        <p:txBody>
          <a:bodyPr/>
          <a:lstStyle/>
          <a:p>
            <a:endParaRPr lang="en-US"/>
          </a:p>
        </p:txBody>
      </p:sp>
      <p:sp>
        <p:nvSpPr>
          <p:cNvPr id="4" name="Text 2"/>
          <p:cNvSpPr/>
          <p:nvPr/>
        </p:nvSpPr>
        <p:spPr>
          <a:xfrm>
            <a:off x="457200" y="1097280"/>
            <a:ext cx="3931920" cy="365760"/>
          </a:xfrm>
          <a:prstGeom prst="rect">
            <a:avLst/>
          </a:prstGeom>
          <a:noFill/>
          <a:ln/>
        </p:spPr>
        <p:txBody>
          <a:bodyPr wrap="square" rtlCol="0" anchor="ctr"/>
          <a:lstStyle/>
          <a:p>
            <a:pPr marL="0" indent="0" algn="ctr">
              <a:buNone/>
            </a:pPr>
            <a:r>
              <a:rPr lang="en-US" sz="1600" b="1">
                <a:solidFill>
                  <a:srgbClr val="27AE60"/>
                </a:solidFill>
              </a:rPr>
              <a:t>Rounds 1-4: Predetermined</a:t>
            </a:r>
            <a:endParaRPr lang="en-US" sz="1600"/>
          </a:p>
        </p:txBody>
      </p:sp>
      <p:sp>
        <p:nvSpPr>
          <p:cNvPr id="5" name="Text 3"/>
          <p:cNvSpPr/>
          <p:nvPr/>
        </p:nvSpPr>
        <p:spPr>
          <a:xfrm>
            <a:off x="640080" y="1554480"/>
            <a:ext cx="3566160" cy="2560320"/>
          </a:xfrm>
          <a:prstGeom prst="rect">
            <a:avLst/>
          </a:prstGeom>
          <a:noFill/>
          <a:ln/>
        </p:spPr>
        <p:txBody>
          <a:bodyPr wrap="square" rtlCol="0" anchor="t"/>
          <a:lstStyle/>
          <a:p>
            <a:pPr marL="0" indent="0">
              <a:buNone/>
            </a:pPr>
            <a:r>
              <a:rPr lang="en-US" sz="1100" i="1">
                <a:solidFill>
                  <a:srgbClr val="2C2C2C"/>
                </a:solidFill>
              </a:rPr>
              <a:t>Scheduled at Tournament Start
</a:t>
            </a:r>
            <a:endParaRPr lang="en-US" sz="1100"/>
          </a:p>
          <a:p>
            <a:pPr marL="0" indent="0">
              <a:buNone/>
            </a:pPr>
            <a:r>
              <a:rPr lang="en-US" sz="1200" b="1">
                <a:solidFill>
                  <a:srgbClr val="2C2C2C"/>
                </a:solidFill>
              </a:rPr>
              <a:t>Round 1: Inverse Seeding
</a:t>
            </a:r>
            <a:r>
              <a:rPr lang="en-US" sz="1050">
                <a:solidFill>
                  <a:srgbClr val="2C2C2C"/>
                </a:solidFill>
              </a:rPr>
              <a:t>#1 vs #23, #2 vs #22, #3 vs #21...
</a:t>
            </a:r>
            <a:r>
              <a:rPr lang="en-US" sz="900" i="1">
                <a:solidFill>
                  <a:srgbClr val="2C2C2C"/>
                </a:solidFill>
              </a:rPr>
              <a:t>(Get mismatches out early)
</a:t>
            </a:r>
            <a:r>
              <a:rPr lang="en-US" sz="1200" b="1">
                <a:solidFill>
                  <a:srgbClr val="2C2C2C"/>
                </a:solidFill>
              </a:rPr>
              <a:t>Round 2: Direct Seeding
</a:t>
            </a:r>
            <a:r>
              <a:rPr lang="en-US" sz="1050">
                <a:solidFill>
                  <a:srgbClr val="2C2C2C"/>
                </a:solidFill>
              </a:rPr>
              <a:t>#1 vs #2, #3 vs #4, #5 vs #6...
</a:t>
            </a:r>
            <a:r>
              <a:rPr lang="en-US" sz="900" i="1">
                <a:solidFill>
                  <a:srgbClr val="2C2C2C"/>
                </a:solidFill>
              </a:rPr>
              <a:t>(Top teams face each other)
</a:t>
            </a:r>
            <a:r>
              <a:rPr lang="en-US" sz="1200" b="1">
                <a:solidFill>
                  <a:srgbClr val="2C2C2C"/>
                </a:solidFill>
              </a:rPr>
              <a:t>Round 3: Split Bracket
</a:t>
            </a:r>
            <a:r>
              <a:rPr lang="en-US" sz="1050">
                <a:solidFill>
                  <a:srgbClr val="2C2C2C"/>
                </a:solidFill>
              </a:rPr>
              <a:t>Top 12 play each other, Bottom 12 play each other
</a:t>
            </a:r>
            <a:r>
              <a:rPr lang="en-US" sz="1200" b="1">
                <a:solidFill>
                  <a:srgbClr val="2C2C2C"/>
                </a:solidFill>
              </a:rPr>
              <a:t>Round 4: Bracket Inverse
</a:t>
            </a:r>
            <a:r>
              <a:rPr lang="en-US" sz="1050">
                <a:solidFill>
                  <a:srgbClr val="2C2C2C"/>
                </a:solidFill>
              </a:rPr>
              <a:t>Within-bracket inverse seeding</a:t>
            </a:r>
            <a:endParaRPr lang="en-US" sz="1100"/>
          </a:p>
        </p:txBody>
      </p:sp>
      <p:sp>
        <p:nvSpPr>
          <p:cNvPr id="6" name="Shape 4"/>
          <p:cNvSpPr/>
          <p:nvPr/>
        </p:nvSpPr>
        <p:spPr>
          <a:xfrm>
            <a:off x="4754880" y="1005840"/>
            <a:ext cx="3931920" cy="3291840"/>
          </a:xfrm>
          <a:prstGeom prst="rect">
            <a:avLst/>
          </a:prstGeom>
          <a:solidFill>
            <a:srgbClr val="FFF9E6"/>
          </a:solidFill>
          <a:ln w="25400">
            <a:solidFill>
              <a:srgbClr val="D4AF37"/>
            </a:solidFill>
            <a:prstDash val="solid"/>
          </a:ln>
        </p:spPr>
        <p:txBody>
          <a:bodyPr/>
          <a:lstStyle/>
          <a:p>
            <a:endParaRPr lang="en-US"/>
          </a:p>
        </p:txBody>
      </p:sp>
      <p:sp>
        <p:nvSpPr>
          <p:cNvPr id="7" name="Text 5"/>
          <p:cNvSpPr/>
          <p:nvPr/>
        </p:nvSpPr>
        <p:spPr>
          <a:xfrm>
            <a:off x="4754880" y="1097280"/>
            <a:ext cx="3931920" cy="365760"/>
          </a:xfrm>
          <a:prstGeom prst="rect">
            <a:avLst/>
          </a:prstGeom>
          <a:noFill/>
          <a:ln/>
        </p:spPr>
        <p:txBody>
          <a:bodyPr wrap="square" rtlCol="0" anchor="ctr"/>
          <a:lstStyle/>
          <a:p>
            <a:pPr marL="0" indent="0" algn="ctr">
              <a:buNone/>
            </a:pPr>
            <a:r>
              <a:rPr lang="en-US" sz="1600" b="1">
                <a:solidFill>
                  <a:srgbClr val="D4AF37"/>
                </a:solidFill>
              </a:rPr>
              <a:t>Rounds 5-8: Dynamic Swiss</a:t>
            </a:r>
            <a:endParaRPr lang="en-US" sz="1600"/>
          </a:p>
        </p:txBody>
      </p:sp>
      <p:sp>
        <p:nvSpPr>
          <p:cNvPr id="8" name="Text 6"/>
          <p:cNvSpPr/>
          <p:nvPr/>
        </p:nvSpPr>
        <p:spPr>
          <a:xfrm>
            <a:off x="4937760" y="1554480"/>
            <a:ext cx="3566160" cy="2560320"/>
          </a:xfrm>
          <a:prstGeom prst="rect">
            <a:avLst/>
          </a:prstGeom>
          <a:noFill/>
          <a:ln/>
        </p:spPr>
        <p:txBody>
          <a:bodyPr wrap="square" rtlCol="0" anchor="t"/>
          <a:lstStyle/>
          <a:p>
            <a:pPr marL="0" indent="0">
              <a:buNone/>
            </a:pPr>
            <a:r>
              <a:rPr lang="en-US" sz="1100" i="1">
                <a:solidFill>
                  <a:srgbClr val="2C2C2C"/>
                </a:solidFill>
              </a:rPr>
              <a:t>True Swiss System Pairing
</a:t>
            </a:r>
            <a:endParaRPr lang="en-US" sz="1100"/>
          </a:p>
          <a:p>
            <a:pPr marL="0" indent="0">
              <a:buNone/>
            </a:pPr>
            <a:r>
              <a:rPr lang="en-US" sz="1200" b="1">
                <a:solidFill>
                  <a:srgbClr val="2C2C2C"/>
                </a:solidFill>
              </a:rPr>
              <a:t>Rounds 5-6:
</a:t>
            </a:r>
            <a:r>
              <a:rPr lang="en-US" sz="1050">
                <a:solidFill>
                  <a:srgbClr val="2C2C2C"/>
                </a:solidFill>
              </a:rPr>
              <a:t>Scheduled after Round 4 completes
Based on current standings
Teams with similar W-L records paired
</a:t>
            </a:r>
            <a:endParaRPr lang="en-US" sz="1100"/>
          </a:p>
          <a:p>
            <a:pPr marL="0" indent="0">
              <a:buNone/>
            </a:pPr>
            <a:r>
              <a:rPr lang="en-US" sz="1200" b="1">
                <a:solidFill>
                  <a:srgbClr val="2C2C2C"/>
                </a:solidFill>
              </a:rPr>
              <a:t>Rounds 7-8:
</a:t>
            </a:r>
            <a:r>
              <a:rPr lang="en-US" sz="1050">
                <a:solidFill>
                  <a:srgbClr val="2C2C2C"/>
                </a:solidFill>
              </a:rPr>
              <a:t>Scheduled after Round 6 completes
Final competitive pairing
Top teams fighting for #1-4 playoff spots
Middle teams establishing final rankings
</a:t>
            </a:r>
            <a:endParaRPr lang="en-US" sz="1100"/>
          </a:p>
          <a:p>
            <a:pPr marL="0" indent="0">
              <a:buNone/>
            </a:pPr>
            <a:r>
              <a:rPr lang="en-US" sz="1100" b="1" i="1">
                <a:solidFill>
                  <a:srgbClr val="D4AF37"/>
                </a:solidFill>
              </a:rPr>
              <a:t>Benefit: Self-sorting when it matters most</a:t>
            </a:r>
            <a:endParaRPr lang="en-US" sz="1100"/>
          </a:p>
        </p:txBody>
      </p:sp>
      <p:sp>
        <p:nvSpPr>
          <p:cNvPr id="9" name="Text 7"/>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10" name="Text 8"/>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11" name="Text 9"/>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8</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200" b="1">
                <a:solidFill>
                  <a:srgbClr val="1E4D2B"/>
                </a:solidFill>
              </a:rPr>
              <a:t>Why Swiss Lite Is The Smart First Step</a:t>
            </a:r>
            <a:endParaRPr lang="en-US" sz="32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400" b="1">
                <a:solidFill>
                  <a:srgbClr val="27AE60"/>
                </a:solidFill>
              </a:rPr>
              <a:t>Reduced Operational Risk:</a:t>
            </a:r>
            <a:endParaRPr lang="en-US" sz="1400"/>
          </a:p>
          <a:p>
            <a:pPr marL="342900" indent="-342900">
              <a:buSzPct val="100000"/>
              <a:buChar char="•"/>
            </a:pPr>
            <a:r>
              <a:rPr lang="en-US" sz="1200">
                <a:solidFill>
                  <a:srgbClr val="2C2C2C"/>
                </a:solidFill>
              </a:rPr>
              <a:t>Only 2 scheduling sessions (vs. 4 for full Modified Swiss, 8 for traditional Swiss)
4-week initial schedule gives teams confidence and planning window
If mid-season scheduling fails, easy reversion to predetermined bracket for Rounds 7-8
Lower volunteer burnout risk</a:t>
            </a:r>
          </a:p>
          <a:p>
            <a:pPr marL="342900" indent="-342900">
              <a:buSzPct val="100000"/>
              <a:buChar char="•"/>
            </a:pPr>
            <a:endParaRPr lang="en-US" sz="1400"/>
          </a:p>
          <a:p>
            <a:pPr marL="0" indent="0">
              <a:buNone/>
            </a:pPr>
            <a:r>
              <a:rPr lang="en-US" sz="1400" b="1">
                <a:solidFill>
                  <a:srgbClr val="27AE60"/>
                </a:solidFill>
              </a:rPr>
              <a:t>Preserved Competitive Benefits:</a:t>
            </a:r>
            <a:endParaRPr lang="en-US" sz="1400"/>
          </a:p>
          <a:p>
            <a:pPr marL="342900" indent="-342900">
              <a:buSzPct val="100000"/>
              <a:buChar char="•"/>
            </a:pPr>
            <a:r>
              <a:rPr lang="en-US" sz="1200">
                <a:solidFill>
                  <a:srgbClr val="2C2C2C"/>
                </a:solidFill>
              </a:rPr>
              <a:t>Single unified points table throughout (no groups)
Swiss self-sorting in Rounds 5-8 when playoff seeding matters most
Performance-based rankings for playoff qualification
Minimizes late-season mismatches</a:t>
            </a:r>
          </a:p>
          <a:p>
            <a:pPr marL="342900" indent="-342900">
              <a:buSzPct val="100000"/>
              <a:buChar char="•"/>
            </a:pPr>
            <a:endParaRPr lang="en-US" sz="1400"/>
          </a:p>
          <a:p>
            <a:pPr marL="0" indent="0">
              <a:buNone/>
            </a:pPr>
            <a:r>
              <a:rPr lang="en-US" sz="1400" b="1">
                <a:solidFill>
                  <a:srgbClr val="27AE60"/>
                </a:solidFill>
              </a:rPr>
              <a:t>Trial-Friendly:</a:t>
            </a:r>
            <a:endParaRPr lang="en-US" sz="1400"/>
          </a:p>
          <a:p>
            <a:pPr marL="342900" indent="-342900">
              <a:buSzPct val="100000"/>
              <a:buChar char="•"/>
            </a:pPr>
            <a:r>
              <a:rPr lang="en-US" sz="1200">
                <a:solidFill>
                  <a:srgbClr val="2C2C2C"/>
                </a:solidFill>
              </a:rPr>
              <a:t>Tests dynamic scheduling on limited scope (2 sessions)
Builds organizational confidence before committing to full Swiss
If successful, can expand to full Modified Swiss in future seasons
If challenging, lessons learned with minimal disruption</a:t>
            </a:r>
            <a:endParaRPr lang="en-US" sz="14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9</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600" b="1">
                <a:solidFill>
                  <a:srgbClr val="1E4D2B"/>
                </a:solidFill>
              </a:rPr>
              <a:t>Validation Through Simulation</a:t>
            </a:r>
            <a:endParaRPr lang="en-US" sz="36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200">
                <a:solidFill>
                  <a:srgbClr val="2C2C2C"/>
                </a:solidFill>
              </a:rPr>
              <a:t>To verify that initial seeding doesn't predetermine final rankings, a virtual T20 tournament was simulated on computer:
</a:t>
            </a:r>
            <a:endParaRPr lang="en-US" sz="1200"/>
          </a:p>
          <a:p>
            <a:pPr marL="0" indent="0">
              <a:buNone/>
            </a:pPr>
            <a:r>
              <a:rPr lang="en-US" sz="1400" b="1">
                <a:solidFill>
                  <a:srgbClr val="2C2C2C"/>
                </a:solidFill>
              </a:rPr>
              <a:t>Simulation Parameters:</a:t>
            </a:r>
            <a:endParaRPr lang="en-US" sz="1200"/>
          </a:p>
          <a:p>
            <a:pPr marL="342900" indent="-342900">
              <a:buSzPct val="100000"/>
              <a:buChar char="•"/>
            </a:pPr>
            <a:r>
              <a:rPr lang="en-US" sz="1200">
                <a:solidFill>
                  <a:srgbClr val="2C2C2C"/>
                </a:solidFill>
              </a:rPr>
              <a:t>23 teams (A through W) with strength matching initial seed rank
Team A (seed #1) = strongest, Team W (seed #23) = weakest
Upset probability proportional to seeding difference between opponents
Modified Swiss System rules applied (2 rounds scheduled at a time)
8 rounds total with realistic upset frequency</a:t>
            </a:r>
          </a:p>
          <a:p>
            <a:pPr marL="342900" indent="-342900">
              <a:buSzPct val="100000"/>
              <a:buChar char="•"/>
            </a:pPr>
            <a:endParaRPr lang="en-US" sz="1200"/>
          </a:p>
          <a:p>
            <a:pPr marL="0" indent="0">
              <a:buNone/>
            </a:pPr>
            <a:r>
              <a:rPr lang="en-US" sz="1400" b="1">
                <a:solidFill>
                  <a:srgbClr val="2C2C2C"/>
                </a:solidFill>
              </a:rPr>
              <a:t>Key Question Being Tested:</a:t>
            </a:r>
            <a:endParaRPr lang="en-US" sz="1200"/>
          </a:p>
          <a:p>
            <a:pPr marL="0" indent="0">
              <a:buNone/>
            </a:pPr>
            <a:r>
              <a:rPr lang="en-US" sz="1200" i="1">
                <a:solidFill>
                  <a:srgbClr val="2C2C2C"/>
                </a:solidFill>
              </a:rPr>
              <a:t>Can lower-seeded teams climb rankings through consistent performance?
Or does initial seeding create a "locked-in" advantage?
</a:t>
            </a:r>
            <a:endParaRPr lang="en-US" sz="1200"/>
          </a:p>
          <a:p>
            <a:pPr marL="0" indent="0">
              <a:buNone/>
            </a:pPr>
            <a:r>
              <a:rPr lang="en-US" sz="1200">
                <a:solidFill>
                  <a:srgbClr val="2C2C2C"/>
                </a:solidFill>
              </a:rPr>
              <a:t>Following slide shows Results after the all 8 Rounds</a:t>
            </a:r>
          </a:p>
          <a:p>
            <a:pPr marL="0" indent="0">
              <a:buNone/>
            </a:pPr>
            <a:r>
              <a:rPr lang="en-US" sz="1050" i="1">
                <a:solidFill>
                  <a:srgbClr val="666666"/>
                </a:solidFill>
              </a:rPr>
              <a:t>(Appendix shows Detailed Round-by-Round tables)</a:t>
            </a:r>
            <a:endParaRPr lang="en-US" sz="12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10</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29303" y="135610"/>
            <a:ext cx="8229600" cy="457200"/>
          </a:xfrm>
          <a:prstGeom prst="rect">
            <a:avLst/>
          </a:prstGeom>
          <a:noFill/>
          <a:ln/>
        </p:spPr>
        <p:txBody>
          <a:bodyPr wrap="square" rtlCol="0" anchor="ctr"/>
          <a:lstStyle/>
          <a:p>
            <a:pPr marL="0" indent="0" algn="ctr">
              <a:buNone/>
            </a:pPr>
            <a:r>
              <a:rPr lang="en-US" sz="3000" b="1">
                <a:solidFill>
                  <a:srgbClr val="1E4D2B"/>
                </a:solidFill>
              </a:rPr>
              <a:t>Simulation Results: </a:t>
            </a:r>
          </a:p>
          <a:p>
            <a:pPr marL="0" indent="0" algn="ctr">
              <a:buNone/>
            </a:pPr>
            <a:r>
              <a:rPr lang="en-US" sz="3000" b="1">
                <a:solidFill>
                  <a:srgbClr val="1E4D2B"/>
                </a:solidFill>
              </a:rPr>
              <a:t>Performance Beats Initial Seeding</a:t>
            </a:r>
            <a:endParaRPr lang="en-US" sz="3000"/>
          </a:p>
        </p:txBody>
      </p:sp>
      <p:sp>
        <p:nvSpPr>
          <p:cNvPr id="3" name="Shape 1"/>
          <p:cNvSpPr/>
          <p:nvPr/>
        </p:nvSpPr>
        <p:spPr>
          <a:xfrm>
            <a:off x="457200" y="914400"/>
            <a:ext cx="2560320" cy="1188720"/>
          </a:xfrm>
          <a:prstGeom prst="rect">
            <a:avLst/>
          </a:prstGeom>
          <a:solidFill>
            <a:srgbClr val="D4EDDA"/>
          </a:solidFill>
          <a:ln w="25400">
            <a:solidFill>
              <a:srgbClr val="27AE60"/>
            </a:solidFill>
            <a:prstDash val="solid"/>
          </a:ln>
        </p:spPr>
        <p:txBody>
          <a:bodyPr/>
          <a:lstStyle/>
          <a:p>
            <a:endParaRPr lang="en-US"/>
          </a:p>
        </p:txBody>
      </p:sp>
      <p:sp>
        <p:nvSpPr>
          <p:cNvPr id="4" name="Text 2"/>
          <p:cNvSpPr/>
          <p:nvPr/>
        </p:nvSpPr>
        <p:spPr>
          <a:xfrm>
            <a:off x="457200" y="960120"/>
            <a:ext cx="2560320" cy="274320"/>
          </a:xfrm>
          <a:prstGeom prst="rect">
            <a:avLst/>
          </a:prstGeom>
          <a:noFill/>
          <a:ln/>
        </p:spPr>
        <p:txBody>
          <a:bodyPr wrap="square" rtlCol="0" anchor="ctr"/>
          <a:lstStyle/>
          <a:p>
            <a:pPr marL="0" indent="0" algn="ctr">
              <a:buNone/>
            </a:pPr>
            <a:r>
              <a:rPr lang="en-US" sz="1300" b="1">
                <a:solidFill>
                  <a:srgbClr val="27AE60"/>
                </a:solidFill>
              </a:rPr>
              <a:t>Lower Seeds Climbing</a:t>
            </a:r>
            <a:endParaRPr lang="en-US" sz="1300"/>
          </a:p>
        </p:txBody>
      </p:sp>
      <p:sp>
        <p:nvSpPr>
          <p:cNvPr id="5" name="Text 3"/>
          <p:cNvSpPr/>
          <p:nvPr/>
        </p:nvSpPr>
        <p:spPr>
          <a:xfrm>
            <a:off x="548640" y="1280160"/>
            <a:ext cx="2377440" cy="731520"/>
          </a:xfrm>
          <a:prstGeom prst="rect">
            <a:avLst/>
          </a:prstGeom>
          <a:noFill/>
          <a:ln/>
        </p:spPr>
        <p:txBody>
          <a:bodyPr wrap="square" rtlCol="0" anchor="ctr"/>
          <a:lstStyle/>
          <a:p>
            <a:pPr marL="0" indent="0">
              <a:buNone/>
            </a:pPr>
            <a:r>
              <a:rPr lang="en-US" sz="1100">
                <a:solidFill>
                  <a:srgbClr val="2C2C2C"/>
                </a:solidFill>
              </a:rPr>
              <a:t>Team H: #8 → #3 (+5)</a:t>
            </a:r>
            <a:endParaRPr lang="en-US" sz="1100"/>
          </a:p>
          <a:p>
            <a:pPr marL="0" indent="0">
              <a:buNone/>
            </a:pPr>
            <a:r>
              <a:rPr lang="en-US" sz="1100">
                <a:solidFill>
                  <a:srgbClr val="2C2C2C"/>
                </a:solidFill>
              </a:rPr>
              <a:t>Team O: #15 → #8 (+7)</a:t>
            </a:r>
            <a:endParaRPr lang="en-US" sz="1100"/>
          </a:p>
          <a:p>
            <a:pPr marL="0" indent="0">
              <a:buNone/>
            </a:pPr>
            <a:r>
              <a:rPr lang="en-US" sz="1100">
                <a:solidFill>
                  <a:srgbClr val="2C2C2C"/>
                </a:solidFill>
              </a:rPr>
              <a:t>Team P: #16 → #9 (+7)</a:t>
            </a:r>
            <a:endParaRPr lang="en-US" sz="1100"/>
          </a:p>
          <a:p>
            <a:pPr marL="0" indent="0">
              <a:buNone/>
            </a:pPr>
            <a:r>
              <a:rPr lang="en-US" sz="1100">
                <a:solidFill>
                  <a:srgbClr val="2C2C2C"/>
                </a:solidFill>
              </a:rPr>
              <a:t>Team V: #22 → #15 (+7)</a:t>
            </a:r>
            <a:endParaRPr lang="en-US" sz="1100"/>
          </a:p>
        </p:txBody>
      </p:sp>
      <p:sp>
        <p:nvSpPr>
          <p:cNvPr id="6" name="Shape 4"/>
          <p:cNvSpPr/>
          <p:nvPr/>
        </p:nvSpPr>
        <p:spPr>
          <a:xfrm>
            <a:off x="3291840" y="914400"/>
            <a:ext cx="2560320" cy="1188720"/>
          </a:xfrm>
          <a:prstGeom prst="rect">
            <a:avLst/>
          </a:prstGeom>
          <a:solidFill>
            <a:srgbClr val="F8D7DA"/>
          </a:solidFill>
          <a:ln w="25400">
            <a:solidFill>
              <a:srgbClr val="C0392B"/>
            </a:solidFill>
            <a:prstDash val="solid"/>
          </a:ln>
        </p:spPr>
        <p:txBody>
          <a:bodyPr/>
          <a:lstStyle/>
          <a:p>
            <a:endParaRPr lang="en-US"/>
          </a:p>
        </p:txBody>
      </p:sp>
      <p:sp>
        <p:nvSpPr>
          <p:cNvPr id="7" name="Text 5"/>
          <p:cNvSpPr/>
          <p:nvPr/>
        </p:nvSpPr>
        <p:spPr>
          <a:xfrm>
            <a:off x="3291840" y="960120"/>
            <a:ext cx="2560320" cy="274320"/>
          </a:xfrm>
          <a:prstGeom prst="rect">
            <a:avLst/>
          </a:prstGeom>
          <a:noFill/>
          <a:ln/>
        </p:spPr>
        <p:txBody>
          <a:bodyPr wrap="square" rtlCol="0" anchor="ctr"/>
          <a:lstStyle/>
          <a:p>
            <a:pPr marL="0" indent="0" algn="ctr">
              <a:buNone/>
            </a:pPr>
            <a:r>
              <a:rPr lang="en-US" sz="1300" b="1">
                <a:solidFill>
                  <a:srgbClr val="C0392B"/>
                </a:solidFill>
              </a:rPr>
              <a:t>Higher Seeds Falling</a:t>
            </a:r>
            <a:endParaRPr lang="en-US" sz="1300"/>
          </a:p>
        </p:txBody>
      </p:sp>
      <p:sp>
        <p:nvSpPr>
          <p:cNvPr id="8" name="Text 6"/>
          <p:cNvSpPr/>
          <p:nvPr/>
        </p:nvSpPr>
        <p:spPr>
          <a:xfrm>
            <a:off x="3383280" y="1280160"/>
            <a:ext cx="2377440" cy="731520"/>
          </a:xfrm>
          <a:prstGeom prst="rect">
            <a:avLst/>
          </a:prstGeom>
          <a:noFill/>
          <a:ln/>
        </p:spPr>
        <p:txBody>
          <a:bodyPr wrap="square" rtlCol="0" anchor="ctr"/>
          <a:lstStyle/>
          <a:p>
            <a:pPr marL="0" indent="0">
              <a:buNone/>
            </a:pPr>
            <a:r>
              <a:rPr lang="en-US" sz="1100">
                <a:solidFill>
                  <a:srgbClr val="2C2C2C"/>
                </a:solidFill>
              </a:rPr>
              <a:t>Team E: #5 → #10 (-5)</a:t>
            </a:r>
            <a:endParaRPr lang="en-US" sz="1100"/>
          </a:p>
          <a:p>
            <a:pPr marL="0" indent="0">
              <a:buNone/>
            </a:pPr>
            <a:r>
              <a:rPr lang="en-US" sz="1100">
                <a:solidFill>
                  <a:srgbClr val="2C2C2C"/>
                </a:solidFill>
              </a:rPr>
              <a:t>Team J: #10 → #16 (-6)</a:t>
            </a:r>
            <a:endParaRPr lang="en-US" sz="1100"/>
          </a:p>
          <a:p>
            <a:pPr marL="0" indent="0">
              <a:buNone/>
            </a:pPr>
            <a:r>
              <a:rPr lang="en-US" sz="1100">
                <a:solidFill>
                  <a:srgbClr val="2C2C2C"/>
                </a:solidFill>
              </a:rPr>
              <a:t>Team M: #13 → #23 (-10)</a:t>
            </a:r>
            <a:endParaRPr lang="en-US" sz="1100"/>
          </a:p>
          <a:p>
            <a:pPr marL="0" indent="0">
              <a:buNone/>
            </a:pPr>
            <a:r>
              <a:rPr lang="en-US" sz="1100">
                <a:solidFill>
                  <a:srgbClr val="2C2C2C"/>
                </a:solidFill>
              </a:rPr>
              <a:t>Team L: #12 → #17 (-5)</a:t>
            </a:r>
            <a:endParaRPr lang="en-US" sz="1100"/>
          </a:p>
        </p:txBody>
      </p:sp>
      <p:sp>
        <p:nvSpPr>
          <p:cNvPr id="9" name="Shape 7"/>
          <p:cNvSpPr/>
          <p:nvPr/>
        </p:nvSpPr>
        <p:spPr>
          <a:xfrm>
            <a:off x="6126480" y="914400"/>
            <a:ext cx="2560320" cy="1188720"/>
          </a:xfrm>
          <a:prstGeom prst="rect">
            <a:avLst/>
          </a:prstGeom>
          <a:solidFill>
            <a:srgbClr val="D1ECF1"/>
          </a:solidFill>
          <a:ln w="25400">
            <a:solidFill>
              <a:srgbClr val="17A2B8"/>
            </a:solidFill>
            <a:prstDash val="solid"/>
          </a:ln>
        </p:spPr>
        <p:txBody>
          <a:bodyPr/>
          <a:lstStyle/>
          <a:p>
            <a:endParaRPr lang="en-US"/>
          </a:p>
        </p:txBody>
      </p:sp>
      <p:sp>
        <p:nvSpPr>
          <p:cNvPr id="10" name="Text 8"/>
          <p:cNvSpPr/>
          <p:nvPr/>
        </p:nvSpPr>
        <p:spPr>
          <a:xfrm>
            <a:off x="6126480" y="960120"/>
            <a:ext cx="2560320" cy="274320"/>
          </a:xfrm>
          <a:prstGeom prst="rect">
            <a:avLst/>
          </a:prstGeom>
          <a:noFill/>
          <a:ln/>
        </p:spPr>
        <p:txBody>
          <a:bodyPr wrap="square" rtlCol="0" anchor="ctr"/>
          <a:lstStyle/>
          <a:p>
            <a:pPr marL="0" indent="0" algn="ctr">
              <a:buNone/>
            </a:pPr>
            <a:r>
              <a:rPr lang="en-US" sz="1300" b="1">
                <a:solidFill>
                  <a:srgbClr val="17A2B8"/>
                </a:solidFill>
              </a:rPr>
              <a:t>Top Seeds Maintaining</a:t>
            </a:r>
            <a:endParaRPr lang="en-US" sz="1300"/>
          </a:p>
        </p:txBody>
      </p:sp>
      <p:sp>
        <p:nvSpPr>
          <p:cNvPr id="11" name="Text 9"/>
          <p:cNvSpPr/>
          <p:nvPr/>
        </p:nvSpPr>
        <p:spPr>
          <a:xfrm>
            <a:off x="6217920" y="1280160"/>
            <a:ext cx="2377440" cy="731520"/>
          </a:xfrm>
          <a:prstGeom prst="rect">
            <a:avLst/>
          </a:prstGeom>
          <a:noFill/>
          <a:ln/>
        </p:spPr>
        <p:txBody>
          <a:bodyPr wrap="square" rtlCol="0" anchor="ctr"/>
          <a:lstStyle/>
          <a:p>
            <a:pPr marL="0" indent="0">
              <a:buNone/>
            </a:pPr>
            <a:r>
              <a:rPr lang="en-US" sz="1100">
                <a:solidFill>
                  <a:srgbClr val="2C2C2C"/>
                </a:solidFill>
              </a:rPr>
              <a:t>Team A: #1 → #1 (0)</a:t>
            </a:r>
            <a:endParaRPr lang="en-US" sz="1100"/>
          </a:p>
          <a:p>
            <a:pPr marL="0" indent="0">
              <a:buNone/>
            </a:pPr>
            <a:r>
              <a:rPr lang="en-US" sz="1100">
                <a:solidFill>
                  <a:srgbClr val="2C2C2C"/>
                </a:solidFill>
              </a:rPr>
              <a:t>Team C: #3 → #2 (+1)</a:t>
            </a:r>
            <a:endParaRPr lang="en-US" sz="1100"/>
          </a:p>
          <a:p>
            <a:pPr marL="0" indent="0">
              <a:buNone/>
            </a:pPr>
            <a:r>
              <a:rPr lang="en-US" sz="1100">
                <a:solidFill>
                  <a:srgbClr val="2C2C2C"/>
                </a:solidFill>
              </a:rPr>
              <a:t>Team F: #6 → #6 (0)</a:t>
            </a:r>
            <a:endParaRPr lang="en-US" sz="1100"/>
          </a:p>
          <a:p>
            <a:pPr marL="0" indent="0">
              <a:buNone/>
            </a:pPr>
            <a:r>
              <a:rPr lang="en-US" sz="1100">
                <a:solidFill>
                  <a:srgbClr val="2C2C2C"/>
                </a:solidFill>
              </a:rPr>
              <a:t>Team B: #2 → #4 (-2)</a:t>
            </a:r>
            <a:endParaRPr lang="en-US" sz="1100"/>
          </a:p>
        </p:txBody>
      </p:sp>
      <p:sp>
        <p:nvSpPr>
          <p:cNvPr id="12" name="Shape 10"/>
          <p:cNvSpPr/>
          <p:nvPr/>
        </p:nvSpPr>
        <p:spPr>
          <a:xfrm>
            <a:off x="457200" y="2286000"/>
            <a:ext cx="8299342" cy="2100020"/>
          </a:xfrm>
          <a:prstGeom prst="rect">
            <a:avLst/>
          </a:prstGeom>
          <a:solidFill>
            <a:srgbClr val="D4AF37"/>
          </a:solidFill>
          <a:ln/>
        </p:spPr>
        <p:txBody>
          <a:bodyPr/>
          <a:lstStyle/>
          <a:p>
            <a:endParaRPr lang="en-US"/>
          </a:p>
        </p:txBody>
      </p:sp>
      <p:sp>
        <p:nvSpPr>
          <p:cNvPr id="13" name="Text 11"/>
          <p:cNvSpPr/>
          <p:nvPr/>
        </p:nvSpPr>
        <p:spPr>
          <a:xfrm>
            <a:off x="387458" y="2286000"/>
            <a:ext cx="8229600" cy="365760"/>
          </a:xfrm>
          <a:prstGeom prst="rect">
            <a:avLst/>
          </a:prstGeom>
          <a:noFill/>
          <a:ln/>
        </p:spPr>
        <p:txBody>
          <a:bodyPr wrap="square" rtlCol="0" anchor="ctr"/>
          <a:lstStyle/>
          <a:p>
            <a:pPr marL="0" indent="0" algn="ctr">
              <a:buNone/>
            </a:pPr>
            <a:r>
              <a:rPr lang="en-US" sz="2000" b="1">
                <a:solidFill>
                  <a:srgbClr val="FFFFFF"/>
                </a:solidFill>
              </a:rPr>
              <a:t>Key Finding</a:t>
            </a:r>
            <a:endParaRPr lang="en-US" sz="2000"/>
          </a:p>
        </p:txBody>
      </p:sp>
      <p:sp>
        <p:nvSpPr>
          <p:cNvPr id="14" name="Text 12"/>
          <p:cNvSpPr/>
          <p:nvPr/>
        </p:nvSpPr>
        <p:spPr>
          <a:xfrm>
            <a:off x="731520" y="3288740"/>
            <a:ext cx="7680960" cy="1097280"/>
          </a:xfrm>
          <a:prstGeom prst="rect">
            <a:avLst/>
          </a:prstGeom>
          <a:noFill/>
          <a:ln/>
        </p:spPr>
        <p:txBody>
          <a:bodyPr wrap="square" rtlCol="0" anchor="ctr"/>
          <a:lstStyle/>
          <a:p>
            <a:pPr marL="0" indent="0" algn="ctr">
              <a:buNone/>
            </a:pPr>
            <a:r>
              <a:rPr lang="en-US" sz="1400">
                <a:solidFill>
                  <a:srgbClr val="FFFFFF"/>
                </a:solidFill>
              </a:rPr>
              <a:t>The format is performance-based, not seed-based.
</a:t>
            </a:r>
            <a:endParaRPr lang="en-US" sz="1400"/>
          </a:p>
          <a:p>
            <a:pPr marL="0" indent="0" algn="ctr">
              <a:buNone/>
            </a:pPr>
            <a:r>
              <a:rPr lang="en-US" sz="1200">
                <a:solidFill>
                  <a:srgbClr val="FFFFFF"/>
                </a:solidFill>
              </a:rPr>
              <a:t>• Lower-seeded teams (H, O, P, V) climbed significantly through consistent winning
</a:t>
            </a:r>
            <a:endParaRPr lang="en-US" sz="1400"/>
          </a:p>
          <a:p>
            <a:pPr marL="0" indent="0" algn="ctr">
              <a:buNone/>
            </a:pPr>
            <a:r>
              <a:rPr lang="en-US" sz="1200">
                <a:solidFill>
                  <a:srgbClr val="FFFFFF"/>
                </a:solidFill>
              </a:rPr>
              <a:t>• Higher-seeded teams (E, J, M) fell dramatically through poor performance
</a:t>
            </a:r>
            <a:endParaRPr lang="en-US" sz="1400"/>
          </a:p>
          <a:p>
            <a:pPr marL="0" indent="0" algn="ctr">
              <a:buNone/>
            </a:pPr>
            <a:r>
              <a:rPr lang="en-US" sz="1200">
                <a:solidFill>
                  <a:srgbClr val="FFFFFF"/>
                </a:solidFill>
              </a:rPr>
              <a:t>• Top-performing teams (A, C, F) maintained position through merit
</a:t>
            </a:r>
            <a:endParaRPr lang="en-US" sz="1400"/>
          </a:p>
          <a:p>
            <a:pPr marL="0" indent="0" algn="ctr">
              <a:buNone/>
            </a:pPr>
            <a:endParaRPr lang="en-US" sz="1500"/>
          </a:p>
          <a:p>
            <a:pPr marL="0" indent="0" algn="ctr">
              <a:buNone/>
            </a:pPr>
            <a:r>
              <a:rPr lang="en-US" sz="1300" b="1" i="1">
                <a:solidFill>
                  <a:srgbClr val="FFFFFF"/>
                </a:solidFill>
              </a:rPr>
              <a:t>Initial seed influences early matchups, but final rank is earned through results.</a:t>
            </a:r>
            <a:endParaRPr lang="en-US" sz="1500"/>
          </a:p>
        </p:txBody>
      </p:sp>
      <p:sp>
        <p:nvSpPr>
          <p:cNvPr id="15" name="Text 13"/>
          <p:cNvSpPr/>
          <p:nvPr/>
        </p:nvSpPr>
        <p:spPr>
          <a:xfrm>
            <a:off x="344063" y="484167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16" name="Text 14"/>
          <p:cNvSpPr/>
          <p:nvPr/>
        </p:nvSpPr>
        <p:spPr>
          <a:xfrm>
            <a:off x="3172503" y="4884678"/>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17" name="Text 15"/>
          <p:cNvSpPr/>
          <p:nvPr/>
        </p:nvSpPr>
        <p:spPr>
          <a:xfrm>
            <a:off x="8617058" y="4884678"/>
            <a:ext cx="457200" cy="274320"/>
          </a:xfrm>
          <a:prstGeom prst="rect">
            <a:avLst/>
          </a:prstGeom>
          <a:noFill/>
          <a:ln/>
        </p:spPr>
        <p:txBody>
          <a:bodyPr wrap="square" rtlCol="0" anchor="ctr"/>
          <a:lstStyle/>
          <a:p>
            <a:pPr marL="0" indent="0" algn="r">
              <a:buNone/>
            </a:pPr>
            <a:r>
              <a:rPr lang="en-US" sz="1100">
                <a:solidFill>
                  <a:srgbClr val="666666"/>
                </a:solidFill>
              </a:rPr>
              <a:t>11</a:t>
            </a:r>
            <a:endParaRPr lang="en-US" sz="1100"/>
          </a:p>
        </p:txBody>
      </p:sp>
      <p:sp>
        <p:nvSpPr>
          <p:cNvPr id="18" name="TextBox 17">
            <a:extLst>
              <a:ext uri="{FF2B5EF4-FFF2-40B4-BE49-F238E27FC236}">
                <a16:creationId xmlns:a16="http://schemas.microsoft.com/office/drawing/2014/main" id="{64365134-3559-3975-06CE-3A0BD5606058}"/>
              </a:ext>
            </a:extLst>
          </p:cNvPr>
          <p:cNvSpPr txBox="1"/>
          <p:nvPr/>
        </p:nvSpPr>
        <p:spPr>
          <a:xfrm>
            <a:off x="5052448" y="4476988"/>
            <a:ext cx="3206327" cy="253916"/>
          </a:xfrm>
          <a:prstGeom prst="rect">
            <a:avLst/>
          </a:prstGeom>
          <a:noFill/>
          <a:ln>
            <a:solidFill>
              <a:schemeClr val="accent1">
                <a:lumMod val="75000"/>
              </a:schemeClr>
            </a:solidFill>
          </a:ln>
        </p:spPr>
        <p:txBody>
          <a:bodyPr wrap="none" rtlCol="0">
            <a:spAutoFit/>
          </a:bodyPr>
          <a:lstStyle/>
          <a:p>
            <a:r>
              <a:rPr lang="en-US" sz="1050" i="1">
                <a:solidFill>
                  <a:schemeClr val="accent1">
                    <a:lumMod val="50000"/>
                  </a:schemeClr>
                </a:solidFill>
              </a:rPr>
              <a:t>Round by Round Simulation Results Details in Appendix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200" b="1">
                <a:solidFill>
                  <a:srgbClr val="1E4D2B"/>
                </a:solidFill>
              </a:rPr>
              <a:t>Risk Mitigation &amp; Contingency Planning</a:t>
            </a:r>
            <a:endParaRPr lang="en-US" sz="32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400" b="1">
                <a:solidFill>
                  <a:srgbClr val="2C2C2C"/>
                </a:solidFill>
              </a:rPr>
              <a:t>Identified Risks &amp; Mitigation Strategies:
</a:t>
            </a:r>
            <a:endParaRPr lang="en-US" sz="1400"/>
          </a:p>
          <a:p>
            <a:pPr marL="0" indent="0">
              <a:buNone/>
            </a:pPr>
            <a:r>
              <a:rPr lang="en-US" sz="1200" b="1">
                <a:solidFill>
                  <a:srgbClr val="2C2C2C"/>
                </a:solidFill>
              </a:rPr>
              <a:t>Risk 1: Scheduler Unavailability Mid-Season
</a:t>
            </a:r>
            <a:r>
              <a:rPr lang="en-US" sz="1200">
                <a:solidFill>
                  <a:srgbClr val="2C2C2C"/>
                </a:solidFill>
              </a:rPr>
              <a:t>Mitigation:</a:t>
            </a:r>
            <a:endParaRPr lang="en-US" sz="1400"/>
          </a:p>
          <a:p>
            <a:pPr marL="342900" indent="-342900">
              <a:buSzPct val="100000"/>
              <a:buChar char="•"/>
            </a:pPr>
            <a:r>
              <a:rPr lang="en-US" sz="1100">
                <a:solidFill>
                  <a:srgbClr val="2C2C2C"/>
                </a:solidFill>
              </a:rPr>
              <a:t>Identify backup scheduler before season start (proposer volunteers as backup)
Document pairing logic clearly for anyone to execute
Contingency: If scheduling fails, revert to predetermined bracket for remaining rounds</a:t>
            </a:r>
          </a:p>
          <a:p>
            <a:pPr marL="342900" indent="-342900">
              <a:buSzPct val="100000"/>
              <a:buChar char="•"/>
            </a:pPr>
            <a:endParaRPr lang="en-US" sz="1400"/>
          </a:p>
          <a:p>
            <a:pPr marL="0" indent="0">
              <a:buNone/>
            </a:pPr>
            <a:r>
              <a:rPr lang="en-US" sz="1200" b="1">
                <a:solidFill>
                  <a:srgbClr val="2C2C2C"/>
                </a:solidFill>
              </a:rPr>
              <a:t>Risk 2: Software/Pairing Logic Complexity
</a:t>
            </a:r>
            <a:r>
              <a:rPr lang="en-US" sz="1200">
                <a:solidFill>
                  <a:srgbClr val="2C2C2C"/>
                </a:solidFill>
              </a:rPr>
              <a:t>Mitigation:</a:t>
            </a:r>
            <a:endParaRPr lang="en-US" sz="1400"/>
          </a:p>
          <a:p>
            <a:pPr marL="342900" indent="-342900">
              <a:buSzPct val="100000"/>
              <a:buChar char="•"/>
            </a:pPr>
            <a:r>
              <a:rPr lang="en-US" sz="1100">
                <a:solidFill>
                  <a:srgbClr val="2C2C2C"/>
                </a:solidFill>
              </a:rPr>
              <a:t>Use established Swiss pairing algorithms (widely available)
Test pairing software before season with dummy data
Manual pairing is viable for 23 teams if software fails</a:t>
            </a:r>
          </a:p>
          <a:p>
            <a:pPr marL="342900" indent="-342900">
              <a:buSzPct val="100000"/>
              <a:buChar char="•"/>
            </a:pPr>
            <a:endParaRPr lang="en-US" sz="1400"/>
          </a:p>
          <a:p>
            <a:pPr marL="0" indent="0">
              <a:buNone/>
            </a:pPr>
            <a:r>
              <a:rPr lang="en-US" sz="1200" b="1">
                <a:solidFill>
                  <a:srgbClr val="2C2C2C"/>
                </a:solidFill>
              </a:rPr>
              <a:t>Risk 3: Team Confusion About Dynamic Scheduling
</a:t>
            </a:r>
            <a:r>
              <a:rPr lang="en-US" sz="1200">
                <a:solidFill>
                  <a:srgbClr val="2C2C2C"/>
                </a:solidFill>
              </a:rPr>
              <a:t>Mitigation:</a:t>
            </a:r>
            <a:endParaRPr lang="en-US" sz="1400"/>
          </a:p>
          <a:p>
            <a:pPr marL="342900" indent="-342900">
              <a:buSzPct val="100000"/>
              <a:buChar char="•"/>
            </a:pPr>
            <a:r>
              <a:rPr lang="en-US" sz="1100">
                <a:solidFill>
                  <a:srgbClr val="2C2C2C"/>
                </a:solidFill>
              </a:rPr>
              <a:t>Clear communication before season: "Check schedule every 2 rounds"
Email/WhatsApp notifications when new schedules post
Swiss Lite provides 4-week initial comfort period to adjust</a:t>
            </a:r>
            <a:endParaRPr lang="en-US" sz="14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12</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200" b="1">
                <a:solidFill>
                  <a:srgbClr val="1E4D2B"/>
                </a:solidFill>
              </a:rPr>
              <a:t>How This Enables IPL-Style Playoffs</a:t>
            </a:r>
            <a:endParaRPr lang="en-US" sz="32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200" b="1">
                <a:solidFill>
                  <a:srgbClr val="2C2C2C"/>
                </a:solidFill>
              </a:rPr>
              <a:t>Context: </a:t>
            </a:r>
            <a:r>
              <a:rPr lang="en-US" sz="1100">
                <a:solidFill>
                  <a:srgbClr val="2C2C2C"/>
                </a:solidFill>
              </a:rPr>
              <a:t>Earlier proposal suggested adopting IPL's Page playoff system for OCL
</a:t>
            </a:r>
            <a:endParaRPr lang="en-US" sz="1200"/>
          </a:p>
          <a:p>
            <a:pPr marL="0" indent="0">
              <a:buNone/>
            </a:pPr>
            <a:r>
              <a:rPr lang="en-US" sz="1200" b="1">
                <a:solidFill>
                  <a:srgbClr val="2C2C2C"/>
                </a:solidFill>
              </a:rPr>
              <a:t>The Problem Identified:
</a:t>
            </a:r>
            <a:r>
              <a:rPr lang="en-US" sz="1100">
                <a:solidFill>
                  <a:srgbClr val="2C2C2C"/>
                </a:solidFill>
              </a:rPr>
              <a:t>IPL playoffs require clear 1st-4th place seeding from a single standings table. Our multi-group format created ambiguity:</a:t>
            </a:r>
            <a:endParaRPr lang="en-US" sz="1200"/>
          </a:p>
          <a:p>
            <a:pPr marL="342900" indent="-342900">
              <a:buSzPct val="100000"/>
              <a:buChar char="•"/>
            </a:pPr>
            <a:r>
              <a:rPr lang="en-US" sz="1050">
                <a:solidFill>
                  <a:srgbClr val="2C2C2C"/>
                </a:solidFill>
              </a:rPr>
              <a:t>Which group winner is "1st place" vs "2nd place"?
How do we fairly rank the best second-place teams?
Cross-group comparisons feel arbitrary</a:t>
            </a:r>
          </a:p>
          <a:p>
            <a:pPr marL="342900" indent="-342900">
              <a:buSzPct val="100000"/>
              <a:buChar char="•"/>
            </a:pPr>
            <a:endParaRPr lang="en-US" sz="1200"/>
          </a:p>
          <a:p>
            <a:pPr marL="0" indent="0">
              <a:buNone/>
            </a:pPr>
            <a:r>
              <a:rPr lang="en-US" sz="1200" b="1">
                <a:solidFill>
                  <a:srgbClr val="2C2C2C"/>
                </a:solidFill>
              </a:rPr>
              <a:t>How Swiss System Solves This:
</a:t>
            </a:r>
            <a:r>
              <a:rPr lang="en-US" sz="1100">
                <a:solidFill>
                  <a:srgbClr val="2C2C2C"/>
                </a:solidFill>
              </a:rPr>
              <a:t>Single unified points table provides unambiguous 1-23 rankings</a:t>
            </a:r>
            <a:endParaRPr lang="en-US" sz="1200"/>
          </a:p>
          <a:p>
            <a:pPr marL="342900" indent="-342900">
              <a:buSzPct val="100000"/>
              <a:buChar char="•"/>
            </a:pPr>
            <a:r>
              <a:rPr lang="en-US" sz="1050">
                <a:solidFill>
                  <a:srgbClr val="2C2C2C"/>
                </a:solidFill>
              </a:rPr>
              <a:t>Clear 1st-4th place identification for playoff seeding
No group-winner ambiguity
Fair comparison across all 23 teams</a:t>
            </a:r>
          </a:p>
          <a:p>
            <a:pPr marL="342900" indent="-342900">
              <a:buSzPct val="100000"/>
              <a:buChar char="•"/>
            </a:pPr>
            <a:endParaRPr lang="en-US" sz="1200"/>
          </a:p>
          <a:p>
            <a:pPr marL="0" indent="0">
              <a:buNone/>
            </a:pPr>
            <a:r>
              <a:rPr lang="en-US" sz="1200" b="1">
                <a:solidFill>
                  <a:srgbClr val="2C2C2C"/>
                </a:solidFill>
              </a:rPr>
              <a:t>Playoff Options OCL Can Now Choose:
</a:t>
            </a:r>
            <a:r>
              <a:rPr lang="en-US" sz="1100">
                <a:solidFill>
                  <a:srgbClr val="2C2C2C"/>
                </a:solidFill>
              </a:rPr>
              <a:t>1. Declare Swiss champion (team ranked #1 after 8 rounds)
2. Simple final between #1 and #2
3. IPL-style Page playoffs (Qualifier 1, Eliminator, Qualifier 2, Final)
</a:t>
            </a:r>
            <a:endParaRPr lang="en-US" sz="1200"/>
          </a:p>
          <a:p>
            <a:pPr marL="0" indent="0">
              <a:buNone/>
            </a:pPr>
            <a:r>
              <a:rPr lang="en-US" sz="1100" b="1" i="1">
                <a:solidFill>
                  <a:srgbClr val="2C2C2C"/>
                </a:solidFill>
              </a:rPr>
              <a:t>All three options now work because we have clear 1-4 seeding</a:t>
            </a:r>
            <a:endParaRPr lang="en-US" sz="12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13</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200" b="1">
                <a:solidFill>
                  <a:srgbClr val="1E4D2B"/>
                </a:solidFill>
              </a:rPr>
              <a:t>What We Need to Make This Happen</a:t>
            </a:r>
            <a:endParaRPr lang="en-US" sz="3200"/>
          </a:p>
        </p:txBody>
      </p:sp>
      <p:sp>
        <p:nvSpPr>
          <p:cNvPr id="3" name="Shape 1"/>
          <p:cNvSpPr/>
          <p:nvPr/>
        </p:nvSpPr>
        <p:spPr>
          <a:xfrm>
            <a:off x="457200" y="1005840"/>
            <a:ext cx="3931920" cy="3291840"/>
          </a:xfrm>
          <a:prstGeom prst="rect">
            <a:avLst/>
          </a:prstGeom>
          <a:solidFill>
            <a:srgbClr val="E8F6F3"/>
          </a:solidFill>
          <a:ln/>
        </p:spPr>
        <p:txBody>
          <a:bodyPr/>
          <a:lstStyle/>
          <a:p>
            <a:endParaRPr lang="en-US"/>
          </a:p>
        </p:txBody>
      </p:sp>
      <p:sp>
        <p:nvSpPr>
          <p:cNvPr id="4" name="Text 2"/>
          <p:cNvSpPr/>
          <p:nvPr/>
        </p:nvSpPr>
        <p:spPr>
          <a:xfrm>
            <a:off x="457200" y="1097280"/>
            <a:ext cx="3931920" cy="365760"/>
          </a:xfrm>
          <a:prstGeom prst="rect">
            <a:avLst/>
          </a:prstGeom>
          <a:noFill/>
          <a:ln/>
        </p:spPr>
        <p:txBody>
          <a:bodyPr wrap="square" rtlCol="0" anchor="ctr"/>
          <a:lstStyle/>
          <a:p>
            <a:pPr marL="0" indent="0" algn="ctr">
              <a:buNone/>
            </a:pPr>
            <a:r>
              <a:rPr lang="en-US" sz="1600" b="1">
                <a:solidFill>
                  <a:srgbClr val="1E4D2B"/>
                </a:solidFill>
              </a:rPr>
              <a:t>Before Season Starts</a:t>
            </a:r>
            <a:endParaRPr lang="en-US" sz="1600"/>
          </a:p>
        </p:txBody>
      </p:sp>
      <p:sp>
        <p:nvSpPr>
          <p:cNvPr id="5" name="Text 3"/>
          <p:cNvSpPr/>
          <p:nvPr/>
        </p:nvSpPr>
        <p:spPr>
          <a:xfrm>
            <a:off x="640080" y="1554480"/>
            <a:ext cx="3566160" cy="2560320"/>
          </a:xfrm>
          <a:prstGeom prst="rect">
            <a:avLst/>
          </a:prstGeom>
          <a:noFill/>
          <a:ln/>
        </p:spPr>
        <p:txBody>
          <a:bodyPr wrap="square" rtlCol="0" anchor="t"/>
          <a:lstStyle/>
          <a:p>
            <a:pPr marL="0" indent="0">
              <a:buNone/>
            </a:pPr>
            <a:r>
              <a:rPr lang="en-US" sz="1300" b="1">
                <a:solidFill>
                  <a:srgbClr val="2C2C2C"/>
                </a:solidFill>
              </a:rPr>
              <a:t>Decision &amp; Planning:</a:t>
            </a:r>
            <a:endParaRPr lang="en-US" sz="1300"/>
          </a:p>
          <a:p>
            <a:pPr marL="342900" indent="-342900">
              <a:buSzPct val="100000"/>
              <a:buChar char="•"/>
            </a:pPr>
            <a:r>
              <a:rPr lang="en-US" sz="1100">
                <a:solidFill>
                  <a:srgbClr val="2C2C2C"/>
                </a:solidFill>
              </a:rPr>
              <a:t>BOD approves Swiss Lite format
Decide on playoff format (if any)
Set 2025 T20 final rankings as initial seeds</a:t>
            </a:r>
          </a:p>
          <a:p>
            <a:pPr marL="342900" indent="-342900">
              <a:buSzPct val="100000"/>
              <a:buChar char="•"/>
            </a:pPr>
            <a:endParaRPr lang="en-US" sz="1300"/>
          </a:p>
          <a:p>
            <a:pPr marL="0" indent="0">
              <a:buNone/>
            </a:pPr>
            <a:r>
              <a:rPr lang="en-US" sz="1300" b="1">
                <a:solidFill>
                  <a:srgbClr val="2C2C2C"/>
                </a:solidFill>
              </a:rPr>
              <a:t>Staffing:</a:t>
            </a:r>
            <a:endParaRPr lang="en-US" sz="1300"/>
          </a:p>
          <a:p>
            <a:pPr marL="342900" indent="-342900">
              <a:buSzPct val="100000"/>
              <a:buChar char="•"/>
            </a:pPr>
            <a:r>
              <a:rPr lang="en-US" sz="1100">
                <a:solidFill>
                  <a:srgbClr val="2C2C2C"/>
                </a:solidFill>
              </a:rPr>
              <a:t>Primary scheduler identified
Backup scheduler confirmed (proposer volunteers)
Test run of pairing software</a:t>
            </a:r>
          </a:p>
          <a:p>
            <a:pPr marL="342900" indent="-342900">
              <a:buSzPct val="100000"/>
              <a:buChar char="•"/>
            </a:pPr>
            <a:endParaRPr lang="en-US" sz="1300"/>
          </a:p>
          <a:p>
            <a:pPr marL="0" indent="0">
              <a:buNone/>
            </a:pPr>
            <a:r>
              <a:rPr lang="en-US" sz="1300" b="1">
                <a:solidFill>
                  <a:srgbClr val="2C2C2C"/>
                </a:solidFill>
              </a:rPr>
              <a:t>Communication:</a:t>
            </a:r>
            <a:endParaRPr lang="en-US" sz="1300"/>
          </a:p>
          <a:p>
            <a:pPr marL="342900" indent="-342900">
              <a:buSzPct val="100000"/>
              <a:buChar char="•"/>
            </a:pPr>
            <a:r>
              <a:rPr lang="en-US" sz="1100">
                <a:solidFill>
                  <a:srgbClr val="2C2C2C"/>
                </a:solidFill>
              </a:rPr>
              <a:t>Explain format to team captains
Set expectations on schedule visibility
Create FAQ document</a:t>
            </a:r>
            <a:endParaRPr lang="en-US" sz="1300"/>
          </a:p>
        </p:txBody>
      </p:sp>
      <p:sp>
        <p:nvSpPr>
          <p:cNvPr id="6" name="Shape 4"/>
          <p:cNvSpPr/>
          <p:nvPr/>
        </p:nvSpPr>
        <p:spPr>
          <a:xfrm>
            <a:off x="4754880" y="1005840"/>
            <a:ext cx="3931920" cy="3291840"/>
          </a:xfrm>
          <a:prstGeom prst="rect">
            <a:avLst/>
          </a:prstGeom>
          <a:solidFill>
            <a:srgbClr val="FEF5E7"/>
          </a:solidFill>
          <a:ln/>
        </p:spPr>
        <p:txBody>
          <a:bodyPr/>
          <a:lstStyle/>
          <a:p>
            <a:endParaRPr lang="en-US"/>
          </a:p>
        </p:txBody>
      </p:sp>
      <p:sp>
        <p:nvSpPr>
          <p:cNvPr id="7" name="Text 5"/>
          <p:cNvSpPr/>
          <p:nvPr/>
        </p:nvSpPr>
        <p:spPr>
          <a:xfrm>
            <a:off x="4754880" y="1097280"/>
            <a:ext cx="3931920" cy="365760"/>
          </a:xfrm>
          <a:prstGeom prst="rect">
            <a:avLst/>
          </a:prstGeom>
          <a:noFill/>
          <a:ln/>
        </p:spPr>
        <p:txBody>
          <a:bodyPr wrap="square" rtlCol="0" anchor="ctr"/>
          <a:lstStyle/>
          <a:p>
            <a:pPr marL="0" indent="0" algn="ctr">
              <a:buNone/>
            </a:pPr>
            <a:r>
              <a:rPr lang="en-US" sz="1600" b="1">
                <a:solidFill>
                  <a:srgbClr val="E67E22"/>
                </a:solidFill>
              </a:rPr>
              <a:t>During Season</a:t>
            </a:r>
            <a:endParaRPr lang="en-US" sz="1600"/>
          </a:p>
        </p:txBody>
      </p:sp>
      <p:sp>
        <p:nvSpPr>
          <p:cNvPr id="8" name="Text 6"/>
          <p:cNvSpPr/>
          <p:nvPr/>
        </p:nvSpPr>
        <p:spPr>
          <a:xfrm>
            <a:off x="4937760" y="1554480"/>
            <a:ext cx="3566160" cy="2560320"/>
          </a:xfrm>
          <a:prstGeom prst="rect">
            <a:avLst/>
          </a:prstGeom>
          <a:noFill/>
          <a:ln/>
        </p:spPr>
        <p:txBody>
          <a:bodyPr wrap="square" rtlCol="0" anchor="t"/>
          <a:lstStyle/>
          <a:p>
            <a:pPr marL="0" indent="0">
              <a:buNone/>
            </a:pPr>
            <a:r>
              <a:rPr lang="en-US" sz="1200" b="1">
                <a:solidFill>
                  <a:srgbClr val="2C2C2C"/>
                </a:solidFill>
              </a:rPr>
              <a:t>Scheduling Windows:</a:t>
            </a:r>
            <a:endParaRPr lang="en-US" sz="1200"/>
          </a:p>
          <a:p>
            <a:pPr marL="342900" indent="-342900">
              <a:buSzPct val="100000"/>
              <a:buChar char="•"/>
            </a:pPr>
            <a:r>
              <a:rPr lang="en-US" sz="1050">
                <a:solidFill>
                  <a:srgbClr val="2C2C2C"/>
                </a:solidFill>
              </a:rPr>
              <a:t>After Round 4: Schedule Rounds 5-6
After Round 6: Schedule Rounds 7-8
Each session: Pairing logic → Ground/time assignment</a:t>
            </a:r>
          </a:p>
          <a:p>
            <a:pPr marL="342900" indent="-342900">
              <a:buSzPct val="100000"/>
              <a:buChar char="•"/>
            </a:pPr>
            <a:endParaRPr lang="en-US" sz="1200"/>
          </a:p>
          <a:p>
            <a:pPr marL="0" indent="0">
              <a:buNone/>
            </a:pPr>
            <a:r>
              <a:rPr lang="en-US" sz="1200" b="1">
                <a:solidFill>
                  <a:srgbClr val="2C2C2C"/>
                </a:solidFill>
              </a:rPr>
              <a:t>Communication:</a:t>
            </a:r>
            <a:endParaRPr lang="en-US" sz="1200"/>
          </a:p>
          <a:p>
            <a:pPr marL="342900" indent="-342900">
              <a:buSzPct val="100000"/>
              <a:buChar char="•"/>
            </a:pPr>
            <a:r>
              <a:rPr lang="en-US" sz="1050">
                <a:solidFill>
                  <a:srgbClr val="2C2C2C"/>
                </a:solidFill>
              </a:rPr>
              <a:t>Post schedule within 24 hours of previous round completion
Email/WhatsApp notifications to all teams
Update website/app immediately</a:t>
            </a:r>
          </a:p>
          <a:p>
            <a:pPr marL="342900" indent="-342900">
              <a:buSzPct val="100000"/>
              <a:buChar char="•"/>
            </a:pPr>
            <a:endParaRPr lang="en-US" sz="1200"/>
          </a:p>
          <a:p>
            <a:pPr marL="0" indent="0">
              <a:buNone/>
            </a:pPr>
            <a:r>
              <a:rPr lang="en-US" sz="1200" b="1">
                <a:solidFill>
                  <a:srgbClr val="2C2C2C"/>
                </a:solidFill>
              </a:rPr>
              <a:t>Monitoring:</a:t>
            </a:r>
            <a:endParaRPr lang="en-US" sz="1200"/>
          </a:p>
          <a:p>
            <a:pPr marL="342900" indent="-342900">
              <a:buSzPct val="100000"/>
              <a:buChar char="•"/>
            </a:pPr>
            <a:r>
              <a:rPr lang="en-US" sz="1050">
                <a:solidFill>
                  <a:srgbClr val="2C2C2C"/>
                </a:solidFill>
              </a:rPr>
              <a:t>Track team satisfaction/confusion
Note scheduling workload burden
Document lessons learned for next season</a:t>
            </a:r>
            <a:endParaRPr lang="en-US" sz="1200"/>
          </a:p>
        </p:txBody>
      </p:sp>
      <p:sp>
        <p:nvSpPr>
          <p:cNvPr id="9" name="Text 7"/>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10" name="Text 8"/>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11" name="Text 9"/>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14</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600" b="1">
                <a:solidFill>
                  <a:srgbClr val="1E4D2B"/>
                </a:solidFill>
              </a:rPr>
              <a:t>How We'll Know If This Works</a:t>
            </a:r>
            <a:endParaRPr lang="en-US" sz="3600"/>
          </a:p>
        </p:txBody>
      </p:sp>
      <p:sp>
        <p:nvSpPr>
          <p:cNvPr id="3" name="Text 1"/>
          <p:cNvSpPr/>
          <p:nvPr/>
        </p:nvSpPr>
        <p:spPr>
          <a:xfrm>
            <a:off x="457200" y="914400"/>
            <a:ext cx="8229600" cy="3474720"/>
          </a:xfrm>
          <a:prstGeom prst="rect">
            <a:avLst/>
          </a:prstGeom>
          <a:noFill/>
          <a:ln/>
        </p:spPr>
        <p:txBody>
          <a:bodyPr wrap="square" rtlCol="0" anchor="t"/>
          <a:lstStyle/>
          <a:p>
            <a:pPr marL="0" indent="0">
              <a:buNone/>
            </a:pPr>
            <a:r>
              <a:rPr lang="en-US" sz="1100" b="1">
                <a:solidFill>
                  <a:srgbClr val="2C2C2C"/>
                </a:solidFill>
              </a:rPr>
              <a:t>Success Criteria for Swiss Lite Trial:
</a:t>
            </a:r>
            <a:endParaRPr lang="en-US" sz="1100"/>
          </a:p>
          <a:p>
            <a:pPr marL="0" indent="0">
              <a:buNone/>
            </a:pPr>
            <a:r>
              <a:rPr lang="en-US" sz="1050" b="1">
                <a:solidFill>
                  <a:srgbClr val="27AE60"/>
                </a:solidFill>
              </a:rPr>
              <a:t>Competitive Fairness (Primary Goal):</a:t>
            </a:r>
            <a:endParaRPr lang="en-US" sz="1100"/>
          </a:p>
          <a:p>
            <a:pPr marL="342900" indent="-342900">
              <a:buSzPct val="100000"/>
              <a:buChar char="•"/>
            </a:pPr>
            <a:r>
              <a:rPr lang="en-US" sz="1050">
                <a:solidFill>
                  <a:srgbClr val="2C2C2C"/>
                </a:solidFill>
              </a:rPr>
              <a:t>Final rankings reflect performance, not group luck
Reduced complaints about mismatches
Clear 1-4 playoff seeding without controversy</a:t>
            </a:r>
          </a:p>
          <a:p>
            <a:pPr marL="342900" indent="-342900">
              <a:buSzPct val="100000"/>
              <a:buChar char="•"/>
            </a:pPr>
            <a:endParaRPr lang="en-US" sz="1100"/>
          </a:p>
          <a:p>
            <a:pPr marL="0" indent="0">
              <a:buNone/>
            </a:pPr>
            <a:r>
              <a:rPr lang="en-US" sz="1050" b="1">
                <a:solidFill>
                  <a:srgbClr val="27AE60"/>
                </a:solidFill>
              </a:rPr>
              <a:t>Operational Feasibility:</a:t>
            </a:r>
            <a:endParaRPr lang="en-US" sz="1100"/>
          </a:p>
          <a:p>
            <a:pPr marL="342900" indent="-342900">
              <a:buSzPct val="100000"/>
              <a:buChar char="•"/>
            </a:pPr>
            <a:r>
              <a:rPr lang="en-US" sz="1050">
                <a:solidFill>
                  <a:srgbClr val="2C2C2C"/>
                </a:solidFill>
              </a:rPr>
              <a:t>Both scheduling sessions completed successfully
No mid-season scheduling crises
Scheduler workload sustainable (not burnout territory)</a:t>
            </a:r>
          </a:p>
          <a:p>
            <a:pPr marL="342900" indent="-342900">
              <a:buSzPct val="100000"/>
              <a:buChar char="•"/>
            </a:pPr>
            <a:endParaRPr lang="en-US" sz="1100"/>
          </a:p>
          <a:p>
            <a:pPr marL="0" indent="0">
              <a:buNone/>
            </a:pPr>
            <a:r>
              <a:rPr lang="en-US" sz="1050" b="1">
                <a:solidFill>
                  <a:srgbClr val="27AE60"/>
                </a:solidFill>
              </a:rPr>
              <a:t>Team Satisfaction:</a:t>
            </a:r>
            <a:endParaRPr lang="en-US" sz="1100"/>
          </a:p>
          <a:p>
            <a:pPr marL="342900" indent="-342900">
              <a:buSzPct val="100000"/>
              <a:buChar char="•"/>
            </a:pPr>
            <a:r>
              <a:rPr lang="en-US" sz="1050">
                <a:solidFill>
                  <a:srgbClr val="2C2C2C"/>
                </a:solidFill>
              </a:rPr>
              <a:t>Teams adapt to 2-week scheduling cycle
Positive feedback on format fairness
Willingness to continue format in future seasons</a:t>
            </a:r>
          </a:p>
          <a:p>
            <a:pPr marL="342900" indent="-342900">
              <a:buSzPct val="100000"/>
              <a:buChar char="•"/>
            </a:pPr>
            <a:endParaRPr lang="en-US" sz="1100"/>
          </a:p>
          <a:p>
            <a:pPr marL="0" indent="0">
              <a:buNone/>
            </a:pPr>
            <a:r>
              <a:rPr lang="en-US" sz="1050" b="1">
                <a:solidFill>
                  <a:srgbClr val="2C2C2C"/>
                </a:solidFill>
              </a:rPr>
              <a:t>Post-Season Evaluation:
</a:t>
            </a:r>
            <a:r>
              <a:rPr lang="en-US" sz="1050">
                <a:solidFill>
                  <a:srgbClr val="2C2C2C"/>
                </a:solidFill>
              </a:rPr>
              <a:t>If successful → Expand to full Modified Swiss (4 scheduling sessions) next season
If challenging but salvageable → Repeat Swiss Lite and refine
If operationally unworkable → Revert to traditional format with lessons learned</a:t>
            </a:r>
            <a:endParaRPr lang="en-US" sz="1100"/>
          </a:p>
        </p:txBody>
      </p:sp>
      <p:sp>
        <p:nvSpPr>
          <p:cNvPr id="4" name="Text 2"/>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5" name="Text 3"/>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6" name="Text 4"/>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15</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4D2B"/>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marL="0" indent="0" algn="ctr">
              <a:buNone/>
            </a:pPr>
            <a:r>
              <a:rPr lang="en-US" sz="3800" b="1">
                <a:solidFill>
                  <a:srgbClr val="FFFFFF"/>
                </a:solidFill>
              </a:rPr>
              <a:t>Recommendation &amp; Next Steps</a:t>
            </a:r>
            <a:endParaRPr lang="en-US" sz="3800"/>
          </a:p>
        </p:txBody>
      </p:sp>
      <p:sp>
        <p:nvSpPr>
          <p:cNvPr id="3" name="Shape 1"/>
          <p:cNvSpPr/>
          <p:nvPr/>
        </p:nvSpPr>
        <p:spPr>
          <a:xfrm>
            <a:off x="914400" y="1280160"/>
            <a:ext cx="7315200" cy="2743200"/>
          </a:xfrm>
          <a:prstGeom prst="rect">
            <a:avLst/>
          </a:prstGeom>
          <a:solidFill>
            <a:srgbClr val="FFFFFF"/>
          </a:solidFill>
          <a:ln/>
        </p:spPr>
        <p:txBody>
          <a:bodyPr/>
          <a:lstStyle/>
          <a:p>
            <a:endParaRPr lang="en-US"/>
          </a:p>
        </p:txBody>
      </p:sp>
      <p:sp>
        <p:nvSpPr>
          <p:cNvPr id="4" name="Text 2"/>
          <p:cNvSpPr/>
          <p:nvPr/>
        </p:nvSpPr>
        <p:spPr>
          <a:xfrm>
            <a:off x="1188720" y="1463040"/>
            <a:ext cx="6766560" cy="2377440"/>
          </a:xfrm>
          <a:prstGeom prst="rect">
            <a:avLst/>
          </a:prstGeom>
          <a:noFill/>
          <a:ln/>
        </p:spPr>
        <p:txBody>
          <a:bodyPr wrap="square" rtlCol="0" anchor="t"/>
          <a:lstStyle/>
          <a:p>
            <a:pPr marL="0" indent="0">
              <a:buNone/>
            </a:pPr>
            <a:r>
              <a:rPr lang="en-US" sz="1000" b="1">
                <a:solidFill>
                  <a:srgbClr val="2C2C2C"/>
                </a:solidFill>
              </a:rPr>
              <a:t>Recommendation: Adopt Modified Swiss Lite for 2026 T20 Season
</a:t>
            </a:r>
            <a:endParaRPr lang="en-US" sz="1000"/>
          </a:p>
          <a:p>
            <a:pPr marL="0" indent="0">
              <a:buNone/>
            </a:pPr>
            <a:r>
              <a:rPr lang="en-US" sz="900" b="1">
                <a:solidFill>
                  <a:srgbClr val="2C2C2C"/>
                </a:solidFill>
              </a:rPr>
              <a:t>Immediate Next Steps:</a:t>
            </a:r>
            <a:endParaRPr lang="en-US" sz="1000"/>
          </a:p>
          <a:p>
            <a:pPr marL="0" indent="0">
              <a:buNone/>
            </a:pPr>
            <a:r>
              <a:rPr lang="en-US" sz="900">
                <a:solidFill>
                  <a:srgbClr val="2C2C2C"/>
                </a:solidFill>
              </a:rPr>
              <a:t>1. BOD decision on format approval and playoff structure
2. Identify and confirm primary + backup schedulers
3. Test Swiss pairing software with 2025 final standings
4. Create team communication materials (format explanation, FAQ)
5. Schedule captain's meeting to introduce format before season
</a:t>
            </a:r>
            <a:endParaRPr lang="en-US" sz="1000"/>
          </a:p>
          <a:p>
            <a:pPr marL="0" indent="0">
              <a:buNone/>
            </a:pPr>
            <a:r>
              <a:rPr lang="en-US" sz="900" b="1">
                <a:solidFill>
                  <a:srgbClr val="2C2C2C"/>
                </a:solidFill>
              </a:rPr>
              <a:t>Why This Is Worth Trying:
</a:t>
            </a:r>
            <a:r>
              <a:rPr lang="en-US" sz="900">
                <a:solidFill>
                  <a:srgbClr val="2C2C2C"/>
                </a:solidFill>
              </a:rPr>
              <a:t>• Addresses legitimate competitive fairness concerns
• Tested and proven viable through simulation
• Risk-mitigated implementation (Swiss Lite vs. full Swiss)
• Clear contingency plans if challenges arise
• One-season trial with no long-term commitment
</a:t>
            </a:r>
            <a:endParaRPr lang="en-US" sz="1000"/>
          </a:p>
          <a:p>
            <a:pPr marL="0" indent="0">
              <a:buNone/>
            </a:pPr>
            <a:r>
              <a:rPr lang="en-US" sz="900" b="1" i="1">
                <a:solidFill>
                  <a:srgbClr val="2C2C2C"/>
                </a:solidFill>
              </a:rPr>
              <a:t>OCL has an opportunity to lead with innovative, fair tournament design.</a:t>
            </a:r>
            <a:endParaRPr lang="en-US" sz="1000"/>
          </a:p>
        </p:txBody>
      </p:sp>
      <p:sp>
        <p:nvSpPr>
          <p:cNvPr id="5" name="Text 3"/>
          <p:cNvSpPr/>
          <p:nvPr/>
        </p:nvSpPr>
        <p:spPr>
          <a:xfrm>
            <a:off x="914400" y="4114800"/>
            <a:ext cx="7315200" cy="365760"/>
          </a:xfrm>
          <a:prstGeom prst="rect">
            <a:avLst/>
          </a:prstGeom>
          <a:noFill/>
          <a:ln/>
        </p:spPr>
        <p:txBody>
          <a:bodyPr wrap="square" rtlCol="0" anchor="ctr"/>
          <a:lstStyle/>
          <a:p>
            <a:pPr marL="0" indent="0" algn="ctr">
              <a:buNone/>
            </a:pPr>
            <a:r>
              <a:rPr lang="en-US" sz="1300" i="1">
                <a:solidFill>
                  <a:srgbClr val="FFFFFF"/>
                </a:solidFill>
              </a:rPr>
              <a:t>We welcome the opportunity to discuss this proposal and address any questions.</a:t>
            </a:r>
            <a:endParaRPr lang="en-US" sz="1300"/>
          </a:p>
        </p:txBody>
      </p:sp>
      <p:sp>
        <p:nvSpPr>
          <p:cNvPr id="6" name="Text 4"/>
          <p:cNvSpPr/>
          <p:nvPr/>
        </p:nvSpPr>
        <p:spPr>
          <a:xfrm>
            <a:off x="457200" y="4572000"/>
            <a:ext cx="1828800" cy="274320"/>
          </a:xfrm>
          <a:prstGeom prst="rect">
            <a:avLst/>
          </a:prstGeom>
          <a:noFill/>
          <a:ln/>
        </p:spPr>
        <p:txBody>
          <a:bodyPr wrap="square" rtlCol="0" anchor="ctr"/>
          <a:lstStyle/>
          <a:p>
            <a:pPr marL="0" indent="0">
              <a:buNone/>
            </a:pPr>
            <a:r>
              <a:rPr lang="en-US" sz="1100">
                <a:solidFill>
                  <a:srgbClr val="666666"/>
                </a:solidFill>
              </a:rPr>
              <a:t>03/03/2026</a:t>
            </a:r>
            <a:endParaRPr lang="en-US" sz="1100"/>
          </a:p>
        </p:txBody>
      </p:sp>
      <p:sp>
        <p:nvSpPr>
          <p:cNvPr id="7" name="Text 5"/>
          <p:cNvSpPr/>
          <p:nvPr/>
        </p:nvSpPr>
        <p:spPr>
          <a:xfrm>
            <a:off x="3200400" y="4572000"/>
            <a:ext cx="2743200" cy="274320"/>
          </a:xfrm>
          <a:prstGeom prst="rect">
            <a:avLst/>
          </a:prstGeom>
          <a:noFill/>
          <a:ln/>
        </p:spPr>
        <p:txBody>
          <a:bodyPr wrap="square" rtlCol="0" anchor="ctr"/>
          <a:lstStyle/>
          <a:p>
            <a:pPr marL="0" indent="0" algn="ctr">
              <a:buNone/>
            </a:pPr>
            <a:r>
              <a:rPr lang="en-US" sz="1100">
                <a:solidFill>
                  <a:srgbClr val="666666"/>
                </a:solidFill>
              </a:rPr>
              <a:t>Oregon Cricket League</a:t>
            </a:r>
            <a:endParaRPr lang="en-US" sz="1100"/>
          </a:p>
        </p:txBody>
      </p:sp>
      <p:sp>
        <p:nvSpPr>
          <p:cNvPr id="8" name="Text 6"/>
          <p:cNvSpPr/>
          <p:nvPr/>
        </p:nvSpPr>
        <p:spPr>
          <a:xfrm>
            <a:off x="8229600" y="4572000"/>
            <a:ext cx="457200" cy="274320"/>
          </a:xfrm>
          <a:prstGeom prst="rect">
            <a:avLst/>
          </a:prstGeom>
          <a:noFill/>
          <a:ln/>
        </p:spPr>
        <p:txBody>
          <a:bodyPr wrap="square" rtlCol="0" anchor="ctr"/>
          <a:lstStyle/>
          <a:p>
            <a:pPr marL="0" indent="0" algn="r">
              <a:buNone/>
            </a:pPr>
            <a:r>
              <a:rPr lang="en-US" sz="1100">
                <a:solidFill>
                  <a:srgbClr val="666666"/>
                </a:solidFill>
              </a:rPr>
              <a:t>16</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D553-3B5D-9D17-5741-962DCDE17E56}"/>
              </a:ext>
            </a:extLst>
          </p:cNvPr>
          <p:cNvSpPr>
            <a:spLocks noGrp="1"/>
          </p:cNvSpPr>
          <p:nvPr>
            <p:ph type="title"/>
          </p:nvPr>
        </p:nvSpPr>
        <p:spPr>
          <a:xfrm>
            <a:off x="628650" y="1577577"/>
            <a:ext cx="7949662" cy="1963785"/>
          </a:xfrm>
        </p:spPr>
        <p:txBody>
          <a:bodyPr>
            <a:normAutofit/>
          </a:bodyPr>
          <a:lstStyle/>
          <a:p>
            <a:pPr algn="ctr"/>
            <a:r>
              <a:rPr lang="en-US" sz="4400" u="sng"/>
              <a:t>Appendix</a:t>
            </a:r>
            <a:br>
              <a:rPr lang="en-US"/>
            </a:br>
            <a:br>
              <a:rPr lang="en-US"/>
            </a:br>
            <a:r>
              <a:rPr lang="en-US"/>
              <a:t>Round by Round Simulation Results</a:t>
            </a:r>
          </a:p>
        </p:txBody>
      </p:sp>
    </p:spTree>
    <p:extLst>
      <p:ext uri="{BB962C8B-B14F-4D97-AF65-F5344CB8AC3E}">
        <p14:creationId xmlns:p14="http://schemas.microsoft.com/office/powerpoint/2010/main" val="3718186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ADA41-5074-7729-8336-EADD53F9B2E3}"/>
              </a:ext>
            </a:extLst>
          </p:cNvPr>
          <p:cNvSpPr>
            <a:spLocks noGrp="1"/>
          </p:cNvSpPr>
          <p:nvPr>
            <p:ph type="title"/>
          </p:nvPr>
        </p:nvSpPr>
        <p:spPr>
          <a:xfrm>
            <a:off x="628650" y="142321"/>
            <a:ext cx="7886700" cy="693792"/>
          </a:xfrm>
        </p:spPr>
        <p:txBody>
          <a:bodyPr>
            <a:normAutofit fontScale="90000"/>
          </a:bodyPr>
          <a:lstStyle/>
          <a:p>
            <a:pPr algn="ctr"/>
            <a:r>
              <a:rPr lang="en-US" sz="2700">
                <a:ln w="0"/>
                <a:effectLst>
                  <a:outerShdw blurRad="38100" dist="19050" dir="2700000" algn="tl" rotWithShape="0">
                    <a:schemeClr val="dk1">
                      <a:alpha val="40000"/>
                    </a:schemeClr>
                  </a:outerShdw>
                </a:effectLst>
              </a:rPr>
              <a:t>Confirmation of Viability of Modified Swiss System </a:t>
            </a:r>
            <a:br>
              <a:rPr lang="en-US" sz="2700">
                <a:ln w="0"/>
                <a:effectLst>
                  <a:outerShdw blurRad="38100" dist="19050" dir="2700000" algn="tl" rotWithShape="0">
                    <a:schemeClr val="dk1">
                      <a:alpha val="40000"/>
                    </a:schemeClr>
                  </a:outerShdw>
                </a:effectLst>
              </a:rPr>
            </a:br>
            <a:r>
              <a:rPr lang="en-US" sz="2700">
                <a:ln w="0"/>
                <a:effectLst>
                  <a:outerShdw blurRad="38100" dist="19050" dir="2700000" algn="tl" rotWithShape="0">
                    <a:schemeClr val="dk1">
                      <a:alpha val="40000"/>
                    </a:schemeClr>
                  </a:outerShdw>
                </a:effectLst>
              </a:rPr>
              <a:t>to be devoid of influence by the Initial Seeding Ranks</a:t>
            </a:r>
          </a:p>
        </p:txBody>
      </p:sp>
      <p:sp>
        <p:nvSpPr>
          <p:cNvPr id="3" name="Content Placeholder 2">
            <a:extLst>
              <a:ext uri="{FF2B5EF4-FFF2-40B4-BE49-F238E27FC236}">
                <a16:creationId xmlns:a16="http://schemas.microsoft.com/office/drawing/2014/main" id="{7D9F7B22-DB66-12F5-E272-E31FA6B6D49F}"/>
              </a:ext>
            </a:extLst>
          </p:cNvPr>
          <p:cNvSpPr>
            <a:spLocks noGrp="1"/>
          </p:cNvSpPr>
          <p:nvPr>
            <p:ph idx="1"/>
          </p:nvPr>
        </p:nvSpPr>
        <p:spPr>
          <a:xfrm>
            <a:off x="244258" y="939998"/>
            <a:ext cx="8689931" cy="3263504"/>
          </a:xfrm>
        </p:spPr>
        <p:txBody>
          <a:bodyPr>
            <a:normAutofit lnSpcReduction="10000"/>
          </a:bodyPr>
          <a:lstStyle/>
          <a:p>
            <a:r>
              <a:rPr lang="en-US"/>
              <a:t>One concern for the Modified Swiss System Format is that the initial Seeding Rank could influence the Final Ranking in the Tournament Table</a:t>
            </a:r>
          </a:p>
          <a:p>
            <a:pPr lvl="1"/>
            <a:r>
              <a:rPr lang="en-US"/>
              <a:t>Low Initial Seeded teams could find it difficult to climb up despite consistent winning performances or High Initial Seeded teams could maintain high rank despite indifferent performances</a:t>
            </a:r>
          </a:p>
          <a:p>
            <a:r>
              <a:rPr lang="en-US"/>
              <a:t>To determine if this is true, a Virtual T20 Tournament was run on the computer</a:t>
            </a:r>
          </a:p>
          <a:p>
            <a:pPr lvl="1"/>
            <a:r>
              <a:rPr lang="en-US"/>
              <a:t>23 teams (identified by a letter of the alphabet…A,B,C, and so on, till W) were assigned strength based on their initial seeding (A=Strongest, W= Weakest) with the probability of an upset proportional to the </a:t>
            </a:r>
            <a:r>
              <a:rPr lang="en-US" b="1">
                <a:latin typeface="Symbol" pitchFamily="2" charset="2"/>
                <a:ea typeface="Cambria Math" panose="02040503050406030204" pitchFamily="18" charset="0"/>
              </a:rPr>
              <a:t>D</a:t>
            </a:r>
            <a:r>
              <a:rPr lang="en-US"/>
              <a:t> Seeding Rank between two teams in a scheduled match</a:t>
            </a:r>
          </a:p>
          <a:p>
            <a:pPr lvl="1"/>
            <a:r>
              <a:rPr lang="en-US"/>
              <a:t>Modified Swiss System rules, as explained previously, were used</a:t>
            </a:r>
          </a:p>
          <a:p>
            <a:endParaRPr lang="en-US"/>
          </a:p>
        </p:txBody>
      </p:sp>
      <p:sp>
        <p:nvSpPr>
          <p:cNvPr id="4" name="Date Placeholder 3">
            <a:extLst>
              <a:ext uri="{FF2B5EF4-FFF2-40B4-BE49-F238E27FC236}">
                <a16:creationId xmlns:a16="http://schemas.microsoft.com/office/drawing/2014/main" id="{A5155EE3-274B-A1BC-3F0A-6849D3BD519B}"/>
              </a:ext>
            </a:extLst>
          </p:cNvPr>
          <p:cNvSpPr>
            <a:spLocks noGrp="1"/>
          </p:cNvSpPr>
          <p:nvPr>
            <p:ph type="dt" sz="half" idx="10"/>
          </p:nvPr>
        </p:nvSpPr>
        <p:spPr/>
        <p:txBody>
          <a:bodyPr/>
          <a:lstStyle/>
          <a:p>
            <a:pPr defTabSz="685800"/>
            <a:fld id="{ABDE9B1B-AD67-8542-B54B-BC1F796FE282}"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5" name="Footer Placeholder 4">
            <a:extLst>
              <a:ext uri="{FF2B5EF4-FFF2-40B4-BE49-F238E27FC236}">
                <a16:creationId xmlns:a16="http://schemas.microsoft.com/office/drawing/2014/main" id="{C085860D-9B80-F7A8-7BDA-A6AFCE3E2354}"/>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6" name="Slide Number Placeholder 5">
            <a:extLst>
              <a:ext uri="{FF2B5EF4-FFF2-40B4-BE49-F238E27FC236}">
                <a16:creationId xmlns:a16="http://schemas.microsoft.com/office/drawing/2014/main" id="{66FAC400-0E93-FEFC-84E3-6F8154D65965}"/>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18</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1943944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82C0-8355-965F-6473-88EDC2832B6E}"/>
              </a:ext>
            </a:extLst>
          </p:cNvPr>
          <p:cNvSpPr>
            <a:spLocks noGrp="1"/>
          </p:cNvSpPr>
          <p:nvPr>
            <p:ph type="title"/>
          </p:nvPr>
        </p:nvSpPr>
        <p:spPr>
          <a:xfrm>
            <a:off x="628650" y="115029"/>
            <a:ext cx="7886700" cy="339766"/>
          </a:xfrm>
        </p:spPr>
        <p:txBody>
          <a:bodyP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graphicFrame>
        <p:nvGraphicFramePr>
          <p:cNvPr id="4" name="Content Placeholder 3">
            <a:extLst>
              <a:ext uri="{FF2B5EF4-FFF2-40B4-BE49-F238E27FC236}">
                <a16:creationId xmlns:a16="http://schemas.microsoft.com/office/drawing/2014/main" id="{F01AC4D8-5312-FD98-0029-C415BA123B82}"/>
              </a:ext>
            </a:extLst>
          </p:cNvPr>
          <p:cNvGraphicFramePr>
            <a:graphicFrameLocks noGrp="1"/>
          </p:cNvGraphicFramePr>
          <p:nvPr>
            <p:ph idx="1"/>
          </p:nvPr>
        </p:nvGraphicFramePr>
        <p:xfrm>
          <a:off x="628650" y="1416453"/>
          <a:ext cx="4388520" cy="3193320"/>
        </p:xfrm>
        <a:graphic>
          <a:graphicData uri="http://schemas.openxmlformats.org/drawingml/2006/table">
            <a:tbl>
              <a:tblPr/>
              <a:tblGrid>
                <a:gridCol w="1097130">
                  <a:extLst>
                    <a:ext uri="{9D8B030D-6E8A-4147-A177-3AD203B41FA5}">
                      <a16:colId xmlns:a16="http://schemas.microsoft.com/office/drawing/2014/main" val="146667217"/>
                    </a:ext>
                  </a:extLst>
                </a:gridCol>
                <a:gridCol w="1097130">
                  <a:extLst>
                    <a:ext uri="{9D8B030D-6E8A-4147-A177-3AD203B41FA5}">
                      <a16:colId xmlns:a16="http://schemas.microsoft.com/office/drawing/2014/main" val="1764979570"/>
                    </a:ext>
                  </a:extLst>
                </a:gridCol>
                <a:gridCol w="1097130">
                  <a:extLst>
                    <a:ext uri="{9D8B030D-6E8A-4147-A177-3AD203B41FA5}">
                      <a16:colId xmlns:a16="http://schemas.microsoft.com/office/drawing/2014/main" val="2646080991"/>
                    </a:ext>
                  </a:extLst>
                </a:gridCol>
                <a:gridCol w="1097130">
                  <a:extLst>
                    <a:ext uri="{9D8B030D-6E8A-4147-A177-3AD203B41FA5}">
                      <a16:colId xmlns:a16="http://schemas.microsoft.com/office/drawing/2014/main" val="4091976321"/>
                    </a:ext>
                  </a:extLst>
                </a:gridCol>
              </a:tblGrid>
              <a:tr h="245640">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3345704"/>
                  </a:ext>
                </a:extLst>
              </a:tr>
              <a:tr h="245640">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A</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1819152"/>
                  </a:ext>
                </a:extLst>
              </a:tr>
              <a:tr h="245640">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B</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94229"/>
                  </a:ext>
                </a:extLst>
              </a:tr>
              <a:tr h="245640">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C</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355209"/>
                  </a:ext>
                </a:extLst>
              </a:tr>
              <a:tr h="245640">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D</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4231602"/>
                  </a:ext>
                </a:extLst>
              </a:tr>
              <a:tr h="245640">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E</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886948"/>
                  </a:ext>
                </a:extLst>
              </a:tr>
              <a:tr h="245640">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F</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4164326"/>
                  </a:ext>
                </a:extLst>
              </a:tr>
              <a:tr h="245640">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Q</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7615299"/>
                  </a:ext>
                </a:extLst>
              </a:tr>
              <a:tr h="245640">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H</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144179"/>
                  </a:ext>
                </a:extLst>
              </a:tr>
              <a:tr h="245640">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I</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8045163"/>
                  </a:ext>
                </a:extLst>
              </a:tr>
              <a:tr h="245640">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J</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6409452"/>
                  </a:ext>
                </a:extLst>
              </a:tr>
              <a:tr h="245640">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K</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833569"/>
                  </a:ext>
                </a:extLst>
              </a:tr>
              <a:tr h="245640">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L</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854485"/>
                  </a:ext>
                </a:extLst>
              </a:tr>
            </a:tbl>
          </a:graphicData>
        </a:graphic>
      </p:graphicFrame>
      <p:sp>
        <p:nvSpPr>
          <p:cNvPr id="5" name="Rectangle 1">
            <a:extLst>
              <a:ext uri="{FF2B5EF4-FFF2-40B4-BE49-F238E27FC236}">
                <a16:creationId xmlns:a16="http://schemas.microsoft.com/office/drawing/2014/main" id="{0B4B559E-E803-A593-F626-648BFDC55702}"/>
              </a:ext>
            </a:extLst>
          </p:cNvPr>
          <p:cNvSpPr>
            <a:spLocks noChangeArrowheads="1"/>
          </p:cNvSpPr>
          <p:nvPr/>
        </p:nvSpPr>
        <p:spPr bwMode="auto">
          <a:xfrm>
            <a:off x="628651" y="400884"/>
            <a:ext cx="6044668"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350" b="1">
                <a:solidFill>
                  <a:prstClr val="black"/>
                </a:solidFill>
                <a:latin typeface="Aptos" panose="02110004020202020204"/>
              </a:rPr>
              <a:t>ROUND</a:t>
            </a:r>
            <a:r>
              <a:rPr lang="en-US" altLang="en-US" sz="1050" b="1">
                <a:solidFill>
                  <a:prstClr val="black"/>
                </a:solidFill>
                <a:latin typeface="Arial" panose="020B0604020202020204" pitchFamily="34" charset="0"/>
              </a:rPr>
              <a:t> 1 ★ Team L plays 2 matches</a:t>
            </a:r>
          </a:p>
          <a:p>
            <a:pPr defTabSz="685800" eaLnBrk="0" fontAlgn="base" hangingPunct="0">
              <a:spcBef>
                <a:spcPct val="0"/>
              </a:spcBef>
              <a:spcAft>
                <a:spcPct val="0"/>
              </a:spcAft>
            </a:pPr>
            <a:r>
              <a:rPr lang="en-US" altLang="en-US" sz="900" b="1">
                <a:solidFill>
                  <a:prstClr val="black"/>
                </a:solidFill>
                <a:latin typeface="Arial" panose="020B0604020202020204" pitchFamily="34" charset="0"/>
              </a:rPr>
              <a:t>Method: Reverse seedings (1 vs 23, 2 vs 22, etc.)</a:t>
            </a:r>
            <a:r>
              <a:rPr lang="en-US" altLang="en-US" sz="2700">
                <a:solidFill>
                  <a:prstClr val="black"/>
                </a:solidFill>
                <a:latin typeface="Arial" panose="020B0604020202020204" pitchFamily="34" charset="0"/>
              </a:rPr>
              <a:t> </a:t>
            </a:r>
          </a:p>
          <a:p>
            <a:pPr defTabSz="685800" eaLnBrk="0" fontAlgn="base" hangingPunct="0">
              <a:spcBef>
                <a:spcPct val="0"/>
              </a:spcBef>
              <a:spcAft>
                <a:spcPct val="0"/>
              </a:spcAft>
            </a:pPr>
            <a:r>
              <a:rPr lang="en-US" altLang="en-US" sz="1200">
                <a:solidFill>
                  <a:prstClr val="black"/>
                </a:solidFill>
                <a:latin typeface="Arial" panose="020B0604020202020204" pitchFamily="34" charset="0"/>
              </a:rPr>
              <a:t>With 23 teams, L (seed #12) is the middle team and gets two matches (vs K and vs M).</a:t>
            </a:r>
          </a:p>
          <a:p>
            <a:pPr defTabSz="685800" eaLnBrk="0" fontAlgn="base" hangingPunct="0">
              <a:spcBef>
                <a:spcPct val="0"/>
              </a:spcBef>
              <a:spcAft>
                <a:spcPct val="0"/>
              </a:spcAft>
            </a:pPr>
            <a:endParaRPr lang="en-US" altLang="en-US">
              <a:solidFill>
                <a:prstClr val="black"/>
              </a:solidFill>
              <a:latin typeface="Arial" panose="020B0604020202020204" pitchFamily="34" charset="0"/>
            </a:endParaRPr>
          </a:p>
        </p:txBody>
      </p:sp>
      <p:graphicFrame>
        <p:nvGraphicFramePr>
          <p:cNvPr id="11" name="Table 10">
            <a:extLst>
              <a:ext uri="{FF2B5EF4-FFF2-40B4-BE49-F238E27FC236}">
                <a16:creationId xmlns:a16="http://schemas.microsoft.com/office/drawing/2014/main" id="{DC2CC7DA-1E99-2B71-C6C5-6D5563DC9EA5}"/>
              </a:ext>
            </a:extLst>
          </p:cNvPr>
          <p:cNvGraphicFramePr>
            <a:graphicFrameLocks noGrp="1"/>
          </p:cNvGraphicFramePr>
          <p:nvPr/>
        </p:nvGraphicFramePr>
        <p:xfrm>
          <a:off x="5160814" y="1706750"/>
          <a:ext cx="3772500" cy="2252579"/>
        </p:xfrm>
        <a:graphic>
          <a:graphicData uri="http://schemas.openxmlformats.org/drawingml/2006/table">
            <a:tbl>
              <a:tblPr/>
              <a:tblGrid>
                <a:gridCol w="943125">
                  <a:extLst>
                    <a:ext uri="{9D8B030D-6E8A-4147-A177-3AD203B41FA5}">
                      <a16:colId xmlns:a16="http://schemas.microsoft.com/office/drawing/2014/main" val="3516747496"/>
                    </a:ext>
                  </a:extLst>
                </a:gridCol>
                <a:gridCol w="943125">
                  <a:extLst>
                    <a:ext uri="{9D8B030D-6E8A-4147-A177-3AD203B41FA5}">
                      <a16:colId xmlns:a16="http://schemas.microsoft.com/office/drawing/2014/main" val="3118491597"/>
                    </a:ext>
                  </a:extLst>
                </a:gridCol>
                <a:gridCol w="943125">
                  <a:extLst>
                    <a:ext uri="{9D8B030D-6E8A-4147-A177-3AD203B41FA5}">
                      <a16:colId xmlns:a16="http://schemas.microsoft.com/office/drawing/2014/main" val="3236286930"/>
                    </a:ext>
                  </a:extLst>
                </a:gridCol>
                <a:gridCol w="943125">
                  <a:extLst>
                    <a:ext uri="{9D8B030D-6E8A-4147-A177-3AD203B41FA5}">
                      <a16:colId xmlns:a16="http://schemas.microsoft.com/office/drawing/2014/main" val="1144421760"/>
                    </a:ext>
                  </a:extLst>
                </a:gridCol>
              </a:tblGrid>
              <a:tr h="281572">
                <a:tc>
                  <a:txBody>
                    <a:bodyPr/>
                    <a:lstStyle/>
                    <a:p>
                      <a:pPr>
                        <a:buNone/>
                      </a:pPr>
                      <a:r>
                        <a:rPr lang="en-US" sz="12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0377691"/>
                  </a:ext>
                </a:extLst>
              </a:tr>
              <a:tr h="492752">
                <a:tc>
                  <a:txBody>
                    <a:bodyPr/>
                    <a:lstStyle/>
                    <a:p>
                      <a:pPr>
                        <a:buNone/>
                      </a:pPr>
                      <a:r>
                        <a:rPr lang="en-US" sz="1200"/>
                        <a:t>1–10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A,B,C,D,E,F,H,I,J,K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1–0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689439"/>
                  </a:ext>
                </a:extLst>
              </a:tr>
              <a:tr h="281572">
                <a:tc>
                  <a:txBody>
                    <a:bodyPr/>
                    <a:lstStyle/>
                    <a:p>
                      <a:pPr>
                        <a:buNone/>
                      </a:pPr>
                      <a:r>
                        <a:rPr lang="en-US" sz="1200"/>
                        <a:t>11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1–0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5479679"/>
                  </a:ext>
                </a:extLst>
              </a:tr>
              <a:tr h="492752">
                <a:tc>
                  <a:txBody>
                    <a:bodyPr/>
                    <a:lstStyle/>
                    <a:p>
                      <a:pPr>
                        <a:buNone/>
                      </a:pPr>
                      <a:r>
                        <a:rPr lang="en-US" sz="1200"/>
                        <a:t>12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1–1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2 ★doubled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7485131"/>
                  </a:ext>
                </a:extLst>
              </a:tr>
              <a:tr h="703931">
                <a:tc>
                  <a:txBody>
                    <a:bodyPr/>
                    <a:lstStyle/>
                    <a:p>
                      <a:pPr>
                        <a:buNone/>
                      </a:pPr>
                      <a:r>
                        <a:rPr lang="en-US" sz="1200"/>
                        <a:t>13–23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G,M,N,O,P,R,S,T,U,V,W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0–1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5488751"/>
                  </a:ext>
                </a:extLst>
              </a:tr>
            </a:tbl>
          </a:graphicData>
        </a:graphic>
      </p:graphicFrame>
      <p:sp>
        <p:nvSpPr>
          <p:cNvPr id="12" name="TextBox 11">
            <a:extLst>
              <a:ext uri="{FF2B5EF4-FFF2-40B4-BE49-F238E27FC236}">
                <a16:creationId xmlns:a16="http://schemas.microsoft.com/office/drawing/2014/main" id="{3B412877-62F7-4EB5-8E77-181685828755}"/>
              </a:ext>
            </a:extLst>
          </p:cNvPr>
          <p:cNvSpPr txBox="1"/>
          <p:nvPr/>
        </p:nvSpPr>
        <p:spPr>
          <a:xfrm>
            <a:off x="6235366" y="1277953"/>
            <a:ext cx="2116957" cy="300082"/>
          </a:xfrm>
          <a:prstGeom prst="rect">
            <a:avLst/>
          </a:prstGeom>
          <a:noFill/>
        </p:spPr>
        <p:txBody>
          <a:bodyPr wrap="square">
            <a:spAutoFit/>
          </a:bodyPr>
          <a:lstStyle/>
          <a:p>
            <a:pPr defTabSz="685800"/>
            <a:r>
              <a:rPr lang="en-US" sz="1350">
                <a:solidFill>
                  <a:prstClr val="black"/>
                </a:solidFill>
                <a:latin typeface="Aptos" panose="02110004020202020204"/>
              </a:rPr>
              <a:t>Standings after Round 1</a:t>
            </a:r>
          </a:p>
        </p:txBody>
      </p:sp>
      <p:sp>
        <p:nvSpPr>
          <p:cNvPr id="13" name="Date Placeholder 12">
            <a:extLst>
              <a:ext uri="{FF2B5EF4-FFF2-40B4-BE49-F238E27FC236}">
                <a16:creationId xmlns:a16="http://schemas.microsoft.com/office/drawing/2014/main" id="{ADDFA92A-1ECB-79CF-AB29-661794FA1193}"/>
              </a:ext>
            </a:extLst>
          </p:cNvPr>
          <p:cNvSpPr>
            <a:spLocks noGrp="1"/>
          </p:cNvSpPr>
          <p:nvPr>
            <p:ph type="dt" sz="half" idx="10"/>
          </p:nvPr>
        </p:nvSpPr>
        <p:spPr/>
        <p:txBody>
          <a:bodyPr/>
          <a:lstStyle/>
          <a:p>
            <a:pPr defTabSz="685800"/>
            <a:fld id="{DFC2031B-D162-A243-AE90-FBA4C237AB00}"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4" name="Footer Placeholder 13">
            <a:extLst>
              <a:ext uri="{FF2B5EF4-FFF2-40B4-BE49-F238E27FC236}">
                <a16:creationId xmlns:a16="http://schemas.microsoft.com/office/drawing/2014/main" id="{561DA366-EDC2-64C3-E655-CABA6C52B2A7}"/>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5" name="Slide Number Placeholder 14">
            <a:extLst>
              <a:ext uri="{FF2B5EF4-FFF2-40B4-BE49-F238E27FC236}">
                <a16:creationId xmlns:a16="http://schemas.microsoft.com/office/drawing/2014/main" id="{983D0328-5ADC-CC20-3EBA-5208C8F9BA35}"/>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19</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5316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9B1A7-389D-A751-FCB1-663CB2E47D9D}"/>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8" name="TextBox 7">
            <a:extLst>
              <a:ext uri="{FF2B5EF4-FFF2-40B4-BE49-F238E27FC236}">
                <a16:creationId xmlns:a16="http://schemas.microsoft.com/office/drawing/2014/main" id="{F57B22A1-B60F-F1AF-36B5-C3253FCD39E5}"/>
              </a:ext>
            </a:extLst>
          </p:cNvPr>
          <p:cNvSpPr txBox="1"/>
          <p:nvPr/>
        </p:nvSpPr>
        <p:spPr>
          <a:xfrm>
            <a:off x="763403" y="510780"/>
            <a:ext cx="4573203" cy="923330"/>
          </a:xfrm>
          <a:prstGeom prst="rect">
            <a:avLst/>
          </a:prstGeom>
          <a:noFill/>
        </p:spPr>
        <p:txBody>
          <a:bodyPr wrap="square">
            <a:spAutoFit/>
          </a:bodyPr>
          <a:lstStyle/>
          <a:p>
            <a:pPr defTabSz="685800"/>
            <a:r>
              <a:rPr lang="en-US" sz="1350" b="1">
                <a:solidFill>
                  <a:prstClr val="black"/>
                </a:solidFill>
                <a:latin typeface="Aptos" panose="02110004020202020204"/>
              </a:rPr>
              <a:t>ROUND 2 ★ Team W plays 2 matches</a:t>
            </a:r>
          </a:p>
          <a:p>
            <a:pPr defTabSz="685800"/>
            <a:r>
              <a:rPr lang="en-US" sz="1350" b="1">
                <a:solidFill>
                  <a:prstClr val="black"/>
                </a:solidFill>
                <a:latin typeface="Aptos" panose="02110004020202020204"/>
              </a:rPr>
              <a:t>Method: Top seedings (1 vs 2, 3 vs 4, etc.)</a:t>
            </a:r>
            <a:r>
              <a:rPr lang="en-US" sz="1350">
                <a:solidFill>
                  <a:prstClr val="black"/>
                </a:solidFill>
                <a:latin typeface="Aptos" panose="02110004020202020204"/>
              </a:rPr>
              <a:t> W (seed #23) is the odd team out; gets two matches (vs U and vs V, replacing the U-V pairing).</a:t>
            </a:r>
          </a:p>
        </p:txBody>
      </p:sp>
      <p:graphicFrame>
        <p:nvGraphicFramePr>
          <p:cNvPr id="9" name="Table 8">
            <a:extLst>
              <a:ext uri="{FF2B5EF4-FFF2-40B4-BE49-F238E27FC236}">
                <a16:creationId xmlns:a16="http://schemas.microsoft.com/office/drawing/2014/main" id="{5DD8AC43-50A7-B39A-F045-5CD4BA8EFC92}"/>
              </a:ext>
            </a:extLst>
          </p:cNvPr>
          <p:cNvGraphicFramePr>
            <a:graphicFrameLocks noGrp="1"/>
          </p:cNvGraphicFramePr>
          <p:nvPr/>
        </p:nvGraphicFramePr>
        <p:xfrm>
          <a:off x="339892" y="1518813"/>
          <a:ext cx="4232108" cy="3193320"/>
        </p:xfrm>
        <a:graphic>
          <a:graphicData uri="http://schemas.openxmlformats.org/drawingml/2006/table">
            <a:tbl>
              <a:tblPr/>
              <a:tblGrid>
                <a:gridCol w="1058027">
                  <a:extLst>
                    <a:ext uri="{9D8B030D-6E8A-4147-A177-3AD203B41FA5}">
                      <a16:colId xmlns:a16="http://schemas.microsoft.com/office/drawing/2014/main" val="1307871001"/>
                    </a:ext>
                  </a:extLst>
                </a:gridCol>
                <a:gridCol w="1058027">
                  <a:extLst>
                    <a:ext uri="{9D8B030D-6E8A-4147-A177-3AD203B41FA5}">
                      <a16:colId xmlns:a16="http://schemas.microsoft.com/office/drawing/2014/main" val="3008770863"/>
                    </a:ext>
                  </a:extLst>
                </a:gridCol>
                <a:gridCol w="1058027">
                  <a:extLst>
                    <a:ext uri="{9D8B030D-6E8A-4147-A177-3AD203B41FA5}">
                      <a16:colId xmlns:a16="http://schemas.microsoft.com/office/drawing/2014/main" val="474030014"/>
                    </a:ext>
                  </a:extLst>
                </a:gridCol>
                <a:gridCol w="1058027">
                  <a:extLst>
                    <a:ext uri="{9D8B030D-6E8A-4147-A177-3AD203B41FA5}">
                      <a16:colId xmlns:a16="http://schemas.microsoft.com/office/drawing/2014/main" val="820834703"/>
                    </a:ext>
                  </a:extLst>
                </a:gridCol>
              </a:tblGrid>
              <a:tr h="245640">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884358"/>
                  </a:ext>
                </a:extLst>
              </a:tr>
              <a:tr h="245640">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A</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8747855"/>
                  </a:ext>
                </a:extLst>
              </a:tr>
              <a:tr h="245640">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C</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671161"/>
                  </a:ext>
                </a:extLst>
              </a:tr>
              <a:tr h="245640">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F</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0804812"/>
                  </a:ext>
                </a:extLst>
              </a:tr>
              <a:tr h="245640">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H</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773963"/>
                  </a:ext>
                </a:extLst>
              </a:tr>
              <a:tr h="245640">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I</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075254"/>
                  </a:ext>
                </a:extLst>
              </a:tr>
              <a:tr h="245640">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L</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5439294"/>
                  </a:ext>
                </a:extLst>
              </a:tr>
              <a:tr h="245640">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N</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7482300"/>
                  </a:ext>
                </a:extLst>
              </a:tr>
              <a:tr h="245640">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O</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3326406"/>
                  </a:ext>
                </a:extLst>
              </a:tr>
              <a:tr h="245640">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R</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8541204"/>
                  </a:ext>
                </a:extLst>
              </a:tr>
              <a:tr h="245640">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T</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3563"/>
                  </a:ext>
                </a:extLst>
              </a:tr>
              <a:tr h="245640">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W</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05146"/>
                  </a:ext>
                </a:extLst>
              </a:tr>
              <a:tr h="245640">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W</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2524"/>
                  </a:ext>
                </a:extLst>
              </a:tr>
            </a:tbl>
          </a:graphicData>
        </a:graphic>
      </p:graphicFrame>
      <p:graphicFrame>
        <p:nvGraphicFramePr>
          <p:cNvPr id="10" name="Table 9">
            <a:extLst>
              <a:ext uri="{FF2B5EF4-FFF2-40B4-BE49-F238E27FC236}">
                <a16:creationId xmlns:a16="http://schemas.microsoft.com/office/drawing/2014/main" id="{5442B87A-A45A-1CAC-03A2-4C6E1819D382}"/>
              </a:ext>
            </a:extLst>
          </p:cNvPr>
          <p:cNvGraphicFramePr>
            <a:graphicFrameLocks noGrp="1"/>
          </p:cNvGraphicFramePr>
          <p:nvPr/>
        </p:nvGraphicFramePr>
        <p:xfrm>
          <a:off x="4757285" y="1751617"/>
          <a:ext cx="4046824" cy="1796498"/>
        </p:xfrm>
        <a:graphic>
          <a:graphicData uri="http://schemas.openxmlformats.org/drawingml/2006/table">
            <a:tbl>
              <a:tblPr/>
              <a:tblGrid>
                <a:gridCol w="1011706">
                  <a:extLst>
                    <a:ext uri="{9D8B030D-6E8A-4147-A177-3AD203B41FA5}">
                      <a16:colId xmlns:a16="http://schemas.microsoft.com/office/drawing/2014/main" val="1562394976"/>
                    </a:ext>
                  </a:extLst>
                </a:gridCol>
                <a:gridCol w="1011706">
                  <a:extLst>
                    <a:ext uri="{9D8B030D-6E8A-4147-A177-3AD203B41FA5}">
                      <a16:colId xmlns:a16="http://schemas.microsoft.com/office/drawing/2014/main" val="1093976225"/>
                    </a:ext>
                  </a:extLst>
                </a:gridCol>
                <a:gridCol w="1011706">
                  <a:extLst>
                    <a:ext uri="{9D8B030D-6E8A-4147-A177-3AD203B41FA5}">
                      <a16:colId xmlns:a16="http://schemas.microsoft.com/office/drawing/2014/main" val="3996001065"/>
                    </a:ext>
                  </a:extLst>
                </a:gridCol>
                <a:gridCol w="1011706">
                  <a:extLst>
                    <a:ext uri="{9D8B030D-6E8A-4147-A177-3AD203B41FA5}">
                      <a16:colId xmlns:a16="http://schemas.microsoft.com/office/drawing/2014/main" val="133963129"/>
                    </a:ext>
                  </a:extLst>
                </a:gridCol>
              </a:tblGrid>
              <a:tr h="266148">
                <a:tc>
                  <a:txBody>
                    <a:bodyPr/>
                    <a:lstStyle/>
                    <a:p>
                      <a:pPr>
                        <a:buNone/>
                      </a:pPr>
                      <a:r>
                        <a:rPr lang="en-US" sz="10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83090"/>
                  </a:ext>
                </a:extLst>
              </a:tr>
              <a:tr h="266148">
                <a:tc>
                  <a:txBody>
                    <a:bodyPr/>
                    <a:lstStyle/>
                    <a:p>
                      <a:pPr>
                        <a:buNone/>
                      </a:pPr>
                      <a:r>
                        <a:rPr lang="en-US" sz="1000"/>
                        <a:t>1–5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A,C,F,H,I</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919267"/>
                  </a:ext>
                </a:extLst>
              </a:tr>
              <a:tr h="266148">
                <a:tc>
                  <a:txBody>
                    <a:bodyPr/>
                    <a:lstStyle/>
                    <a:p>
                      <a:pPr>
                        <a:buNone/>
                      </a:pPr>
                      <a:r>
                        <a:rPr lang="en-US" sz="1000"/>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3263000"/>
                  </a:ext>
                </a:extLst>
              </a:tr>
              <a:tr h="266148">
                <a:tc>
                  <a:txBody>
                    <a:bodyPr/>
                    <a:lstStyle/>
                    <a:p>
                      <a:pPr>
                        <a:buNone/>
                      </a:pPr>
                      <a:r>
                        <a:rPr lang="en-US" sz="1000"/>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0527743"/>
                  </a:ext>
                </a:extLst>
              </a:tr>
              <a:tr h="465758">
                <a:tc>
                  <a:txBody>
                    <a:bodyPr/>
                    <a:lstStyle/>
                    <a:p>
                      <a:pPr>
                        <a:buNone/>
                      </a:pPr>
                      <a:r>
                        <a:rPr lang="en-US" sz="1000"/>
                        <a:t>8–17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B,D,E,J,K,N,O,Q,R,T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1–1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5720599"/>
                  </a:ext>
                </a:extLst>
              </a:tr>
              <a:tr h="266148">
                <a:tc>
                  <a:txBody>
                    <a:bodyPr/>
                    <a:lstStyle/>
                    <a:p>
                      <a:pPr>
                        <a:buNone/>
                      </a:pPr>
                      <a:r>
                        <a:rPr lang="en-US" sz="1000"/>
                        <a:t>18–23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G,M,P,S,U,V</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0–2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116895"/>
                  </a:ext>
                </a:extLst>
              </a:tr>
            </a:tbl>
          </a:graphicData>
        </a:graphic>
      </p:graphicFrame>
      <p:sp>
        <p:nvSpPr>
          <p:cNvPr id="11" name="TextBox 10">
            <a:extLst>
              <a:ext uri="{FF2B5EF4-FFF2-40B4-BE49-F238E27FC236}">
                <a16:creationId xmlns:a16="http://schemas.microsoft.com/office/drawing/2014/main" id="{263B45EA-3CB6-01DD-1E2B-D3E0ADFC4428}"/>
              </a:ext>
            </a:extLst>
          </p:cNvPr>
          <p:cNvSpPr txBox="1"/>
          <p:nvPr/>
        </p:nvSpPr>
        <p:spPr>
          <a:xfrm>
            <a:off x="5982702" y="1272527"/>
            <a:ext cx="2116957" cy="300082"/>
          </a:xfrm>
          <a:prstGeom prst="rect">
            <a:avLst/>
          </a:prstGeom>
          <a:noFill/>
        </p:spPr>
        <p:txBody>
          <a:bodyPr wrap="square">
            <a:spAutoFit/>
          </a:bodyPr>
          <a:lstStyle/>
          <a:p>
            <a:pPr defTabSz="685800"/>
            <a:r>
              <a:rPr lang="en-US" sz="1350">
                <a:solidFill>
                  <a:prstClr val="black"/>
                </a:solidFill>
                <a:latin typeface="Aptos" panose="02110004020202020204"/>
              </a:rPr>
              <a:t>Standings after Round 2</a:t>
            </a:r>
          </a:p>
        </p:txBody>
      </p:sp>
      <p:sp>
        <p:nvSpPr>
          <p:cNvPr id="12" name="Date Placeholder 11">
            <a:extLst>
              <a:ext uri="{FF2B5EF4-FFF2-40B4-BE49-F238E27FC236}">
                <a16:creationId xmlns:a16="http://schemas.microsoft.com/office/drawing/2014/main" id="{73B9E556-490F-B83D-AB90-ED00332B27B8}"/>
              </a:ext>
            </a:extLst>
          </p:cNvPr>
          <p:cNvSpPr>
            <a:spLocks noGrp="1"/>
          </p:cNvSpPr>
          <p:nvPr>
            <p:ph type="dt" sz="half" idx="10"/>
          </p:nvPr>
        </p:nvSpPr>
        <p:spPr/>
        <p:txBody>
          <a:bodyPr/>
          <a:lstStyle/>
          <a:p>
            <a:pPr defTabSz="685800"/>
            <a:fld id="{50DED305-E040-AF4C-A3FD-A158418E6D8F}"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3" name="Footer Placeholder 12">
            <a:extLst>
              <a:ext uri="{FF2B5EF4-FFF2-40B4-BE49-F238E27FC236}">
                <a16:creationId xmlns:a16="http://schemas.microsoft.com/office/drawing/2014/main" id="{491091BE-60BA-4330-B3BE-B67BA7E42C37}"/>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4" name="Slide Number Placeholder 13">
            <a:extLst>
              <a:ext uri="{FF2B5EF4-FFF2-40B4-BE49-F238E27FC236}">
                <a16:creationId xmlns:a16="http://schemas.microsoft.com/office/drawing/2014/main" id="{0A17101C-FAB4-D72E-BEA1-FBFB7B27D746}"/>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20</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2812609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1E598-5B4C-A4C8-9F4A-FB79B06B0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400ED-221B-4D6B-625B-88D79162611B}"/>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4" name="TextBox 3">
            <a:extLst>
              <a:ext uri="{FF2B5EF4-FFF2-40B4-BE49-F238E27FC236}">
                <a16:creationId xmlns:a16="http://schemas.microsoft.com/office/drawing/2014/main" id="{1FDBE321-0B75-3879-0695-5FBBB3668BFC}"/>
              </a:ext>
            </a:extLst>
          </p:cNvPr>
          <p:cNvSpPr txBox="1"/>
          <p:nvPr/>
        </p:nvSpPr>
        <p:spPr>
          <a:xfrm>
            <a:off x="835593" y="649167"/>
            <a:ext cx="4573203" cy="507831"/>
          </a:xfrm>
          <a:prstGeom prst="rect">
            <a:avLst/>
          </a:prstGeom>
          <a:noFill/>
        </p:spPr>
        <p:txBody>
          <a:bodyPr wrap="square">
            <a:spAutoFit/>
          </a:bodyPr>
          <a:lstStyle/>
          <a:p>
            <a:pPr defTabSz="685800"/>
            <a:r>
              <a:rPr lang="en-US" sz="1350" b="1">
                <a:solidFill>
                  <a:prstClr val="black"/>
                </a:solidFill>
                <a:latin typeface="Aptos" panose="02110004020202020204"/>
              </a:rPr>
              <a:t>ROUND 3 ★ Team V plays 2 matches</a:t>
            </a:r>
          </a:p>
          <a:p>
            <a:pPr defTabSz="685800"/>
            <a:r>
              <a:rPr lang="en-US" sz="1350" b="1">
                <a:solidFill>
                  <a:prstClr val="black"/>
                </a:solidFill>
                <a:latin typeface="Aptos" panose="02110004020202020204"/>
              </a:rPr>
              <a:t>Method: Swiss pairing by W-L record</a:t>
            </a:r>
            <a:endParaRPr lang="en-US" sz="1350">
              <a:solidFill>
                <a:prstClr val="black"/>
              </a:solidFill>
              <a:latin typeface="Aptos" panose="02110004020202020204"/>
            </a:endParaRPr>
          </a:p>
        </p:txBody>
      </p:sp>
      <p:sp>
        <p:nvSpPr>
          <p:cNvPr id="7" name="TextBox 6">
            <a:extLst>
              <a:ext uri="{FF2B5EF4-FFF2-40B4-BE49-F238E27FC236}">
                <a16:creationId xmlns:a16="http://schemas.microsoft.com/office/drawing/2014/main" id="{CD816474-FB2B-4C54-02DB-A9467631CE40}"/>
              </a:ext>
            </a:extLst>
          </p:cNvPr>
          <p:cNvSpPr txBox="1"/>
          <p:nvPr/>
        </p:nvSpPr>
        <p:spPr>
          <a:xfrm>
            <a:off x="6249804" y="995415"/>
            <a:ext cx="2116957" cy="300082"/>
          </a:xfrm>
          <a:prstGeom prst="rect">
            <a:avLst/>
          </a:prstGeom>
          <a:noFill/>
        </p:spPr>
        <p:txBody>
          <a:bodyPr wrap="square">
            <a:spAutoFit/>
          </a:bodyPr>
          <a:lstStyle/>
          <a:p>
            <a:pPr defTabSz="685800"/>
            <a:r>
              <a:rPr lang="en-US" sz="1350">
                <a:solidFill>
                  <a:prstClr val="black"/>
                </a:solidFill>
                <a:latin typeface="Aptos" panose="02110004020202020204"/>
              </a:rPr>
              <a:t>Standings after Round 3</a:t>
            </a:r>
          </a:p>
        </p:txBody>
      </p:sp>
      <p:graphicFrame>
        <p:nvGraphicFramePr>
          <p:cNvPr id="9" name="Table 8">
            <a:extLst>
              <a:ext uri="{FF2B5EF4-FFF2-40B4-BE49-F238E27FC236}">
                <a16:creationId xmlns:a16="http://schemas.microsoft.com/office/drawing/2014/main" id="{ABE871F7-B9CE-A18C-8A3B-F20E8E26A30E}"/>
              </a:ext>
            </a:extLst>
          </p:cNvPr>
          <p:cNvGraphicFramePr>
            <a:graphicFrameLocks noGrp="1"/>
          </p:cNvGraphicFramePr>
          <p:nvPr/>
        </p:nvGraphicFramePr>
        <p:xfrm>
          <a:off x="5103795" y="1405889"/>
          <a:ext cx="3872964" cy="2243288"/>
        </p:xfrm>
        <a:graphic>
          <a:graphicData uri="http://schemas.openxmlformats.org/drawingml/2006/table">
            <a:tbl>
              <a:tblPr/>
              <a:tblGrid>
                <a:gridCol w="968241">
                  <a:extLst>
                    <a:ext uri="{9D8B030D-6E8A-4147-A177-3AD203B41FA5}">
                      <a16:colId xmlns:a16="http://schemas.microsoft.com/office/drawing/2014/main" val="733718403"/>
                    </a:ext>
                  </a:extLst>
                </a:gridCol>
                <a:gridCol w="968241">
                  <a:extLst>
                    <a:ext uri="{9D8B030D-6E8A-4147-A177-3AD203B41FA5}">
                      <a16:colId xmlns:a16="http://schemas.microsoft.com/office/drawing/2014/main" val="170905135"/>
                    </a:ext>
                  </a:extLst>
                </a:gridCol>
                <a:gridCol w="968241">
                  <a:extLst>
                    <a:ext uri="{9D8B030D-6E8A-4147-A177-3AD203B41FA5}">
                      <a16:colId xmlns:a16="http://schemas.microsoft.com/office/drawing/2014/main" val="17141845"/>
                    </a:ext>
                  </a:extLst>
                </a:gridCol>
                <a:gridCol w="968241">
                  <a:extLst>
                    <a:ext uri="{9D8B030D-6E8A-4147-A177-3AD203B41FA5}">
                      <a16:colId xmlns:a16="http://schemas.microsoft.com/office/drawing/2014/main" val="507179124"/>
                    </a:ext>
                  </a:extLst>
                </a:gridCol>
              </a:tblGrid>
              <a:tr h="263916">
                <a:tc>
                  <a:txBody>
                    <a:bodyPr/>
                    <a:lstStyle/>
                    <a:p>
                      <a:pPr>
                        <a:buNone/>
                      </a:pPr>
                      <a:r>
                        <a:rPr lang="en-US" sz="10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1154453"/>
                  </a:ext>
                </a:extLst>
              </a:tr>
              <a:tr h="263916">
                <a:tc>
                  <a:txBody>
                    <a:bodyPr/>
                    <a:lstStyle/>
                    <a:p>
                      <a:pPr>
                        <a:buNone/>
                      </a:pPr>
                      <a:r>
                        <a:rPr lang="en-US" sz="1000"/>
                        <a:t>1–3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C,F,I</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5169303"/>
                  </a:ext>
                </a:extLst>
              </a:tr>
              <a:tr h="461854">
                <a:tc>
                  <a:txBody>
                    <a:bodyPr/>
                    <a:lstStyle/>
                    <a:p>
                      <a:pPr>
                        <a:buNone/>
                      </a:pPr>
                      <a:r>
                        <a:rPr lang="en-US" sz="1000"/>
                        <a:t>4–11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A,B,E,H,K,O,R,W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6086469"/>
                  </a:ext>
                </a:extLst>
              </a:tr>
              <a:tr h="263916">
                <a:tc>
                  <a:txBody>
                    <a:bodyPr/>
                    <a:lstStyle/>
                    <a:p>
                      <a:pPr>
                        <a:buNone/>
                      </a:pPr>
                      <a:r>
                        <a:rPr lang="en-US" sz="1000"/>
                        <a:t>12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5557743"/>
                  </a:ext>
                </a:extLst>
              </a:tr>
              <a:tr h="461854">
                <a:tc>
                  <a:txBody>
                    <a:bodyPr/>
                    <a:lstStyle/>
                    <a:p>
                      <a:pPr>
                        <a:buNone/>
                      </a:pPr>
                      <a:r>
                        <a:rPr lang="en-US" sz="1000"/>
                        <a:t>13–20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D,G,J,N,P,Q,S,T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1–2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0814989"/>
                  </a:ext>
                </a:extLst>
              </a:tr>
              <a:tr h="263916">
                <a:tc>
                  <a:txBody>
                    <a:bodyPr/>
                    <a:lstStyle/>
                    <a:p>
                      <a:pPr>
                        <a:buNone/>
                      </a:pPr>
                      <a:r>
                        <a:rPr lang="en-US" sz="1000"/>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V</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1–3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8741594"/>
                  </a:ext>
                </a:extLst>
              </a:tr>
              <a:tr h="263916">
                <a:tc>
                  <a:txBody>
                    <a:bodyPr/>
                    <a:lstStyle/>
                    <a:p>
                      <a:pPr>
                        <a:buNone/>
                      </a:pPr>
                      <a:r>
                        <a:rPr lang="en-US" sz="1000"/>
                        <a:t>22–23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M,U</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0–3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9403889"/>
                  </a:ext>
                </a:extLst>
              </a:tr>
            </a:tbl>
          </a:graphicData>
        </a:graphic>
      </p:graphicFrame>
      <p:graphicFrame>
        <p:nvGraphicFramePr>
          <p:cNvPr id="10" name="Table 9">
            <a:extLst>
              <a:ext uri="{FF2B5EF4-FFF2-40B4-BE49-F238E27FC236}">
                <a16:creationId xmlns:a16="http://schemas.microsoft.com/office/drawing/2014/main" id="{394C4D02-F681-69F3-68D1-41830B12BA1D}"/>
              </a:ext>
            </a:extLst>
          </p:cNvPr>
          <p:cNvGraphicFramePr>
            <a:graphicFrameLocks noGrp="1"/>
          </p:cNvGraphicFramePr>
          <p:nvPr/>
        </p:nvGraphicFramePr>
        <p:xfrm>
          <a:off x="234204" y="1405889"/>
          <a:ext cx="4573204" cy="3193320"/>
        </p:xfrm>
        <a:graphic>
          <a:graphicData uri="http://schemas.openxmlformats.org/drawingml/2006/table">
            <a:tbl>
              <a:tblPr/>
              <a:tblGrid>
                <a:gridCol w="1143301">
                  <a:extLst>
                    <a:ext uri="{9D8B030D-6E8A-4147-A177-3AD203B41FA5}">
                      <a16:colId xmlns:a16="http://schemas.microsoft.com/office/drawing/2014/main" val="3200447689"/>
                    </a:ext>
                  </a:extLst>
                </a:gridCol>
                <a:gridCol w="1143301">
                  <a:extLst>
                    <a:ext uri="{9D8B030D-6E8A-4147-A177-3AD203B41FA5}">
                      <a16:colId xmlns:a16="http://schemas.microsoft.com/office/drawing/2014/main" val="2154342257"/>
                    </a:ext>
                  </a:extLst>
                </a:gridCol>
                <a:gridCol w="1143301">
                  <a:extLst>
                    <a:ext uri="{9D8B030D-6E8A-4147-A177-3AD203B41FA5}">
                      <a16:colId xmlns:a16="http://schemas.microsoft.com/office/drawing/2014/main" val="40398698"/>
                    </a:ext>
                  </a:extLst>
                </a:gridCol>
                <a:gridCol w="1143301">
                  <a:extLst>
                    <a:ext uri="{9D8B030D-6E8A-4147-A177-3AD203B41FA5}">
                      <a16:colId xmlns:a16="http://schemas.microsoft.com/office/drawing/2014/main" val="3915226379"/>
                    </a:ext>
                  </a:extLst>
                </a:gridCol>
              </a:tblGrid>
              <a:tr h="245640">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7213667"/>
                  </a:ext>
                </a:extLst>
              </a:tr>
              <a:tr h="245640">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C</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0722654"/>
                  </a:ext>
                </a:extLst>
              </a:tr>
              <a:tr h="245640">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F</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5599745"/>
                  </a:ext>
                </a:extLst>
              </a:tr>
              <a:tr h="245640">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I</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9950439"/>
                  </a:ext>
                </a:extLst>
              </a:tr>
              <a:tr h="245640">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B</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0538019"/>
                  </a:ext>
                </a:extLst>
              </a:tr>
              <a:tr h="245640">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E</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421488"/>
                  </a:ext>
                </a:extLst>
              </a:tr>
              <a:tr h="245640">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K</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1845935"/>
                  </a:ext>
                </a:extLst>
              </a:tr>
              <a:tr h="245640">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O</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00086"/>
                  </a:ext>
                </a:extLst>
              </a:tr>
              <a:tr h="245640">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R</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731238"/>
                  </a:ext>
                </a:extLst>
              </a:tr>
              <a:tr h="245640">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G</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353283"/>
                  </a:ext>
                </a:extLst>
              </a:tr>
              <a:tr h="245640">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P</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4831061"/>
                  </a:ext>
                </a:extLst>
              </a:tr>
              <a:tr h="245640">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S</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0797418"/>
                  </a:ext>
                </a:extLst>
              </a:tr>
              <a:tr h="245640">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V</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3093620"/>
                  </a:ext>
                </a:extLst>
              </a:tr>
            </a:tbl>
          </a:graphicData>
        </a:graphic>
      </p:graphicFrame>
      <p:sp>
        <p:nvSpPr>
          <p:cNvPr id="11" name="Date Placeholder 10">
            <a:extLst>
              <a:ext uri="{FF2B5EF4-FFF2-40B4-BE49-F238E27FC236}">
                <a16:creationId xmlns:a16="http://schemas.microsoft.com/office/drawing/2014/main" id="{A870E3A8-35B6-6923-1342-F75A6E291943}"/>
              </a:ext>
            </a:extLst>
          </p:cNvPr>
          <p:cNvSpPr>
            <a:spLocks noGrp="1"/>
          </p:cNvSpPr>
          <p:nvPr>
            <p:ph type="dt" sz="half" idx="10"/>
          </p:nvPr>
        </p:nvSpPr>
        <p:spPr/>
        <p:txBody>
          <a:bodyPr/>
          <a:lstStyle/>
          <a:p>
            <a:pPr defTabSz="685800"/>
            <a:fld id="{7DB45A76-41D5-4040-B4DF-7546AFCEBE1F}"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2" name="Footer Placeholder 11">
            <a:extLst>
              <a:ext uri="{FF2B5EF4-FFF2-40B4-BE49-F238E27FC236}">
                <a16:creationId xmlns:a16="http://schemas.microsoft.com/office/drawing/2014/main" id="{91C8D5E1-22D8-6A15-EAC2-0DBCC472AEE4}"/>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3" name="Slide Number Placeholder 12">
            <a:extLst>
              <a:ext uri="{FF2B5EF4-FFF2-40B4-BE49-F238E27FC236}">
                <a16:creationId xmlns:a16="http://schemas.microsoft.com/office/drawing/2014/main" id="{E3B30FDB-4849-23C6-DB90-C4E2B228FA4C}"/>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21</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1970031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CBD7-EBBE-B1A4-4AB8-5DBDEE03F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4BEF4-65E4-C855-2244-26AEEB5699FD}"/>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4" name="TextBox 3">
            <a:extLst>
              <a:ext uri="{FF2B5EF4-FFF2-40B4-BE49-F238E27FC236}">
                <a16:creationId xmlns:a16="http://schemas.microsoft.com/office/drawing/2014/main" id="{6DF186BD-BD4D-347D-0409-A3D39AC03CB3}"/>
              </a:ext>
            </a:extLst>
          </p:cNvPr>
          <p:cNvSpPr txBox="1"/>
          <p:nvPr/>
        </p:nvSpPr>
        <p:spPr>
          <a:xfrm>
            <a:off x="683996" y="627510"/>
            <a:ext cx="4573203" cy="507831"/>
          </a:xfrm>
          <a:prstGeom prst="rect">
            <a:avLst/>
          </a:prstGeom>
          <a:noFill/>
        </p:spPr>
        <p:txBody>
          <a:bodyPr wrap="square">
            <a:spAutoFit/>
          </a:bodyPr>
          <a:lstStyle/>
          <a:p>
            <a:pPr defTabSz="685800"/>
            <a:r>
              <a:rPr lang="en-US" sz="1350" b="1">
                <a:solidFill>
                  <a:prstClr val="black"/>
                </a:solidFill>
                <a:latin typeface="Aptos" panose="02110004020202020204"/>
              </a:rPr>
              <a:t>ROUND 4 ★ Team U plays 2 matches</a:t>
            </a:r>
          </a:p>
          <a:p>
            <a:pPr defTabSz="685800"/>
            <a:r>
              <a:rPr lang="en-US" sz="1350" b="1">
                <a:solidFill>
                  <a:prstClr val="black"/>
                </a:solidFill>
                <a:latin typeface="Aptos" panose="02110004020202020204"/>
              </a:rPr>
              <a:t>Method: Swiss pairing by W-L record</a:t>
            </a:r>
            <a:endParaRPr lang="en-US" sz="1350">
              <a:solidFill>
                <a:prstClr val="black"/>
              </a:solidFill>
              <a:latin typeface="Aptos" panose="02110004020202020204"/>
            </a:endParaRPr>
          </a:p>
        </p:txBody>
      </p:sp>
      <p:graphicFrame>
        <p:nvGraphicFramePr>
          <p:cNvPr id="5" name="Table 4">
            <a:extLst>
              <a:ext uri="{FF2B5EF4-FFF2-40B4-BE49-F238E27FC236}">
                <a16:creationId xmlns:a16="http://schemas.microsoft.com/office/drawing/2014/main" id="{48051AAD-1EB7-627F-5A6D-F7ED17B5FE4F}"/>
              </a:ext>
            </a:extLst>
          </p:cNvPr>
          <p:cNvGraphicFramePr>
            <a:graphicFrameLocks noGrp="1"/>
          </p:cNvGraphicFramePr>
          <p:nvPr/>
        </p:nvGraphicFramePr>
        <p:xfrm>
          <a:off x="306394" y="1198344"/>
          <a:ext cx="3815624" cy="3193320"/>
        </p:xfrm>
        <a:graphic>
          <a:graphicData uri="http://schemas.openxmlformats.org/drawingml/2006/table">
            <a:tbl>
              <a:tblPr/>
              <a:tblGrid>
                <a:gridCol w="953906">
                  <a:extLst>
                    <a:ext uri="{9D8B030D-6E8A-4147-A177-3AD203B41FA5}">
                      <a16:colId xmlns:a16="http://schemas.microsoft.com/office/drawing/2014/main" val="2812906468"/>
                    </a:ext>
                  </a:extLst>
                </a:gridCol>
                <a:gridCol w="953906">
                  <a:extLst>
                    <a:ext uri="{9D8B030D-6E8A-4147-A177-3AD203B41FA5}">
                      <a16:colId xmlns:a16="http://schemas.microsoft.com/office/drawing/2014/main" val="512042709"/>
                    </a:ext>
                  </a:extLst>
                </a:gridCol>
                <a:gridCol w="953906">
                  <a:extLst>
                    <a:ext uri="{9D8B030D-6E8A-4147-A177-3AD203B41FA5}">
                      <a16:colId xmlns:a16="http://schemas.microsoft.com/office/drawing/2014/main" val="4171556432"/>
                    </a:ext>
                  </a:extLst>
                </a:gridCol>
                <a:gridCol w="953906">
                  <a:extLst>
                    <a:ext uri="{9D8B030D-6E8A-4147-A177-3AD203B41FA5}">
                      <a16:colId xmlns:a16="http://schemas.microsoft.com/office/drawing/2014/main" val="2837761400"/>
                    </a:ext>
                  </a:extLst>
                </a:gridCol>
              </a:tblGrid>
              <a:tr h="245640">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5839187"/>
                  </a:ext>
                </a:extLst>
              </a:tr>
              <a:tr h="245640">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F</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958416"/>
                  </a:ext>
                </a:extLst>
              </a:tr>
              <a:tr h="245640">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A</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7655852"/>
                  </a:ext>
                </a:extLst>
              </a:tr>
              <a:tr h="245640">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E</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61142"/>
                  </a:ext>
                </a:extLst>
              </a:tr>
              <a:tr h="245640">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H</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6181684"/>
                  </a:ext>
                </a:extLst>
              </a:tr>
              <a:tr h="245640">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O</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6379431"/>
                  </a:ext>
                </a:extLst>
              </a:tr>
              <a:tr h="245640">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R</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6368747"/>
                  </a:ext>
                </a:extLst>
              </a:tr>
              <a:tr h="245640">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D</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7676207"/>
                  </a:ext>
                </a:extLst>
              </a:tr>
              <a:tr h="245640">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J</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7505905"/>
                  </a:ext>
                </a:extLst>
              </a:tr>
              <a:tr h="245640">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P</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113660"/>
                  </a:ext>
                </a:extLst>
              </a:tr>
              <a:tr h="245640">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S</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0892740"/>
                  </a:ext>
                </a:extLst>
              </a:tr>
              <a:tr h="245640">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V</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7926936"/>
                  </a:ext>
                </a:extLst>
              </a:tr>
              <a:tr h="245640">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M</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067194"/>
                  </a:ext>
                </a:extLst>
              </a:tr>
            </a:tbl>
          </a:graphicData>
        </a:graphic>
      </p:graphicFrame>
      <p:graphicFrame>
        <p:nvGraphicFramePr>
          <p:cNvPr id="6" name="Table 5">
            <a:extLst>
              <a:ext uri="{FF2B5EF4-FFF2-40B4-BE49-F238E27FC236}">
                <a16:creationId xmlns:a16="http://schemas.microsoft.com/office/drawing/2014/main" id="{B1542456-C924-45B6-29EF-59510E0D5A40}"/>
              </a:ext>
            </a:extLst>
          </p:cNvPr>
          <p:cNvGraphicFramePr>
            <a:graphicFrameLocks noGrp="1"/>
          </p:cNvGraphicFramePr>
          <p:nvPr/>
        </p:nvGraphicFramePr>
        <p:xfrm>
          <a:off x="4572000" y="1371599"/>
          <a:ext cx="4393332" cy="1560195"/>
        </p:xfrm>
        <a:graphic>
          <a:graphicData uri="http://schemas.openxmlformats.org/drawingml/2006/table">
            <a:tbl>
              <a:tblPr/>
              <a:tblGrid>
                <a:gridCol w="1098333">
                  <a:extLst>
                    <a:ext uri="{9D8B030D-6E8A-4147-A177-3AD203B41FA5}">
                      <a16:colId xmlns:a16="http://schemas.microsoft.com/office/drawing/2014/main" val="1865355162"/>
                    </a:ext>
                  </a:extLst>
                </a:gridCol>
                <a:gridCol w="1098333">
                  <a:extLst>
                    <a:ext uri="{9D8B030D-6E8A-4147-A177-3AD203B41FA5}">
                      <a16:colId xmlns:a16="http://schemas.microsoft.com/office/drawing/2014/main" val="1718602394"/>
                    </a:ext>
                  </a:extLst>
                </a:gridCol>
                <a:gridCol w="1098333">
                  <a:extLst>
                    <a:ext uri="{9D8B030D-6E8A-4147-A177-3AD203B41FA5}">
                      <a16:colId xmlns:a16="http://schemas.microsoft.com/office/drawing/2014/main" val="2749518257"/>
                    </a:ext>
                  </a:extLst>
                </a:gridCol>
                <a:gridCol w="1098333">
                  <a:extLst>
                    <a:ext uri="{9D8B030D-6E8A-4147-A177-3AD203B41FA5}">
                      <a16:colId xmlns:a16="http://schemas.microsoft.com/office/drawing/2014/main" val="138180734"/>
                    </a:ext>
                  </a:extLst>
                </a:gridCol>
              </a:tblGrid>
              <a:tr h="222885">
                <a:tc>
                  <a:txBody>
                    <a:bodyPr/>
                    <a:lstStyle/>
                    <a:p>
                      <a:pPr>
                        <a:buNone/>
                      </a:pPr>
                      <a:r>
                        <a:rPr lang="en-US" sz="10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2628185"/>
                  </a:ext>
                </a:extLst>
              </a:tr>
              <a:tr h="222885">
                <a:tc>
                  <a:txBody>
                    <a:bodyPr/>
                    <a:lstStyle/>
                    <a:p>
                      <a:pPr>
                        <a:buNone/>
                      </a:pPr>
                      <a:r>
                        <a:rPr lang="en-US" sz="1000"/>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F</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8274984"/>
                  </a:ext>
                </a:extLst>
              </a:tr>
              <a:tr h="222885">
                <a:tc>
                  <a:txBody>
                    <a:bodyPr/>
                    <a:lstStyle/>
                    <a:p>
                      <a:pPr>
                        <a:buNone/>
                      </a:pPr>
                      <a:r>
                        <a:rPr lang="en-US" sz="1000"/>
                        <a:t>2–8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A,C,E,H,I,O,R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1369725"/>
                  </a:ext>
                </a:extLst>
              </a:tr>
              <a:tr h="222885">
                <a:tc>
                  <a:txBody>
                    <a:bodyPr/>
                    <a:lstStyle/>
                    <a:p>
                      <a:pPr>
                        <a:buNone/>
                      </a:pPr>
                      <a:r>
                        <a:rPr lang="en-US" sz="1000"/>
                        <a:t>9–15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B,D,J,K,P,S,V</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8592971"/>
                  </a:ext>
                </a:extLst>
              </a:tr>
              <a:tr h="222885">
                <a:tc>
                  <a:txBody>
                    <a:bodyPr/>
                    <a:lstStyle/>
                    <a:p>
                      <a:pPr>
                        <a:buNone/>
                      </a:pPr>
                      <a:r>
                        <a:rPr lang="en-US" sz="1000"/>
                        <a:t>16–17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8648848"/>
                  </a:ext>
                </a:extLst>
              </a:tr>
              <a:tr h="222885">
                <a:tc>
                  <a:txBody>
                    <a:bodyPr/>
                    <a:lstStyle/>
                    <a:p>
                      <a:pPr>
                        <a:buNone/>
                      </a:pPr>
                      <a:r>
                        <a:rPr lang="en-US" sz="1000"/>
                        <a:t>18–22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G,M,N,Q,T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1–3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037294"/>
                  </a:ext>
                </a:extLst>
              </a:tr>
              <a:tr h="222885">
                <a:tc>
                  <a:txBody>
                    <a:bodyPr/>
                    <a:lstStyle/>
                    <a:p>
                      <a:pPr>
                        <a:buNone/>
                      </a:pPr>
                      <a:r>
                        <a:rPr lang="en-US" sz="1000"/>
                        <a:t>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U</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0–5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674018"/>
                  </a:ext>
                </a:extLst>
              </a:tr>
            </a:tbl>
          </a:graphicData>
        </a:graphic>
      </p:graphicFrame>
      <p:sp>
        <p:nvSpPr>
          <p:cNvPr id="7" name="Rectangle 1">
            <a:extLst>
              <a:ext uri="{FF2B5EF4-FFF2-40B4-BE49-F238E27FC236}">
                <a16:creationId xmlns:a16="http://schemas.microsoft.com/office/drawing/2014/main" id="{ECD65929-5089-3402-E841-803F8BDEA003}"/>
              </a:ext>
            </a:extLst>
          </p:cNvPr>
          <p:cNvSpPr>
            <a:spLocks noChangeArrowheads="1"/>
          </p:cNvSpPr>
          <p:nvPr/>
        </p:nvSpPr>
        <p:spPr bwMode="auto">
          <a:xfrm>
            <a:off x="5663265" y="735255"/>
            <a:ext cx="2956159"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350" b="1">
                <a:solidFill>
                  <a:prstClr val="black"/>
                </a:solidFill>
                <a:latin typeface="Arial" panose="020B0604020202020204" pitchFamily="34" charset="0"/>
              </a:rPr>
              <a:t>Standings after Round 4:</a:t>
            </a:r>
            <a:endParaRPr lang="en-US" altLang="en-US" sz="1350">
              <a:solidFill>
                <a:prstClr val="black"/>
              </a:solidFill>
              <a:latin typeface="Arial" panose="020B0604020202020204" pitchFamily="34" charset="0"/>
            </a:endParaRPr>
          </a:p>
          <a:p>
            <a:pPr defTabSz="685800" eaLnBrk="0" fontAlgn="base" hangingPunct="0">
              <a:spcBef>
                <a:spcPct val="0"/>
              </a:spcBef>
              <a:spcAft>
                <a:spcPct val="0"/>
              </a:spcAft>
            </a:pPr>
            <a:endParaRPr lang="en-US" altLang="en-US" sz="1350">
              <a:solidFill>
                <a:prstClr val="black"/>
              </a:solidFill>
              <a:latin typeface="Arial" panose="020B0604020202020204" pitchFamily="34" charset="0"/>
            </a:endParaRPr>
          </a:p>
        </p:txBody>
      </p:sp>
      <p:sp>
        <p:nvSpPr>
          <p:cNvPr id="8" name="Date Placeholder 7">
            <a:extLst>
              <a:ext uri="{FF2B5EF4-FFF2-40B4-BE49-F238E27FC236}">
                <a16:creationId xmlns:a16="http://schemas.microsoft.com/office/drawing/2014/main" id="{2CE13C62-F8C2-B75E-D765-AA9DEF581F7A}"/>
              </a:ext>
            </a:extLst>
          </p:cNvPr>
          <p:cNvSpPr>
            <a:spLocks noGrp="1"/>
          </p:cNvSpPr>
          <p:nvPr>
            <p:ph type="dt" sz="half" idx="10"/>
          </p:nvPr>
        </p:nvSpPr>
        <p:spPr/>
        <p:txBody>
          <a:bodyPr/>
          <a:lstStyle/>
          <a:p>
            <a:pPr defTabSz="685800"/>
            <a:fld id="{4E89C1AA-B3BD-4C49-AB23-5AC2B155B852}"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9" name="Footer Placeholder 8">
            <a:extLst>
              <a:ext uri="{FF2B5EF4-FFF2-40B4-BE49-F238E27FC236}">
                <a16:creationId xmlns:a16="http://schemas.microsoft.com/office/drawing/2014/main" id="{AF6820FE-4F3A-9547-04D6-AADBF8738E24}"/>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0" name="Slide Number Placeholder 9">
            <a:extLst>
              <a:ext uri="{FF2B5EF4-FFF2-40B4-BE49-F238E27FC236}">
                <a16:creationId xmlns:a16="http://schemas.microsoft.com/office/drawing/2014/main" id="{C4AE4310-BA59-0DB7-DA33-76A9F4474566}"/>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22</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320612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840E-E699-4F39-65E1-1033BFEB2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BD9C6-19C5-BD74-68F4-DDE887DA0922}"/>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4" name="TextBox 3">
            <a:extLst>
              <a:ext uri="{FF2B5EF4-FFF2-40B4-BE49-F238E27FC236}">
                <a16:creationId xmlns:a16="http://schemas.microsoft.com/office/drawing/2014/main" id="{0AAD28AA-458A-6EC6-150B-401947D52576}"/>
              </a:ext>
            </a:extLst>
          </p:cNvPr>
          <p:cNvSpPr txBox="1"/>
          <p:nvPr/>
        </p:nvSpPr>
        <p:spPr>
          <a:xfrm>
            <a:off x="734528" y="735794"/>
            <a:ext cx="4573203" cy="507831"/>
          </a:xfrm>
          <a:prstGeom prst="rect">
            <a:avLst/>
          </a:prstGeom>
          <a:noFill/>
        </p:spPr>
        <p:txBody>
          <a:bodyPr wrap="square">
            <a:spAutoFit/>
          </a:bodyPr>
          <a:lstStyle/>
          <a:p>
            <a:pPr defTabSz="685800"/>
            <a:r>
              <a:rPr lang="en-US" sz="1350" b="1">
                <a:solidFill>
                  <a:prstClr val="black"/>
                </a:solidFill>
                <a:latin typeface="Aptos" panose="02110004020202020204"/>
              </a:rPr>
              <a:t>ROUND 5 ★ Team T plays 2 matches</a:t>
            </a:r>
          </a:p>
          <a:p>
            <a:pPr defTabSz="685800"/>
            <a:r>
              <a:rPr lang="en-US" sz="1350" b="1">
                <a:solidFill>
                  <a:prstClr val="black"/>
                </a:solidFill>
                <a:latin typeface="Aptos" panose="02110004020202020204"/>
              </a:rPr>
              <a:t>Method: Swiss pairing by W-L record</a:t>
            </a:r>
            <a:endParaRPr lang="en-US" sz="1350">
              <a:solidFill>
                <a:prstClr val="black"/>
              </a:solidFill>
              <a:latin typeface="Aptos" panose="02110004020202020204"/>
            </a:endParaRPr>
          </a:p>
        </p:txBody>
      </p:sp>
      <p:graphicFrame>
        <p:nvGraphicFramePr>
          <p:cNvPr id="5" name="Table 4">
            <a:extLst>
              <a:ext uri="{FF2B5EF4-FFF2-40B4-BE49-F238E27FC236}">
                <a16:creationId xmlns:a16="http://schemas.microsoft.com/office/drawing/2014/main" id="{A83DE411-6332-BE80-F965-73C1F4327985}"/>
              </a:ext>
            </a:extLst>
          </p:cNvPr>
          <p:cNvGraphicFramePr>
            <a:graphicFrameLocks noGrp="1"/>
          </p:cNvGraphicFramePr>
          <p:nvPr/>
        </p:nvGraphicFramePr>
        <p:xfrm>
          <a:off x="313613" y="1414913"/>
          <a:ext cx="4010540" cy="3193320"/>
        </p:xfrm>
        <a:graphic>
          <a:graphicData uri="http://schemas.openxmlformats.org/drawingml/2006/table">
            <a:tbl>
              <a:tblPr/>
              <a:tblGrid>
                <a:gridCol w="1002635">
                  <a:extLst>
                    <a:ext uri="{9D8B030D-6E8A-4147-A177-3AD203B41FA5}">
                      <a16:colId xmlns:a16="http://schemas.microsoft.com/office/drawing/2014/main" val="2977378614"/>
                    </a:ext>
                  </a:extLst>
                </a:gridCol>
                <a:gridCol w="1002635">
                  <a:extLst>
                    <a:ext uri="{9D8B030D-6E8A-4147-A177-3AD203B41FA5}">
                      <a16:colId xmlns:a16="http://schemas.microsoft.com/office/drawing/2014/main" val="3535118067"/>
                    </a:ext>
                  </a:extLst>
                </a:gridCol>
                <a:gridCol w="1002635">
                  <a:extLst>
                    <a:ext uri="{9D8B030D-6E8A-4147-A177-3AD203B41FA5}">
                      <a16:colId xmlns:a16="http://schemas.microsoft.com/office/drawing/2014/main" val="2322410335"/>
                    </a:ext>
                  </a:extLst>
                </a:gridCol>
                <a:gridCol w="1002635">
                  <a:extLst>
                    <a:ext uri="{9D8B030D-6E8A-4147-A177-3AD203B41FA5}">
                      <a16:colId xmlns:a16="http://schemas.microsoft.com/office/drawing/2014/main" val="2298274249"/>
                    </a:ext>
                  </a:extLst>
                </a:gridCol>
              </a:tblGrid>
              <a:tr h="245640">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7184547"/>
                  </a:ext>
                </a:extLst>
              </a:tr>
              <a:tr h="245640">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A</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5935351"/>
                  </a:ext>
                </a:extLst>
              </a:tr>
              <a:tr h="245640">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C</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5948531"/>
                  </a:ext>
                </a:extLst>
              </a:tr>
              <a:tr h="245640">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H</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7487635"/>
                  </a:ext>
                </a:extLst>
              </a:tr>
              <a:tr h="245640">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O</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0890866"/>
                  </a:ext>
                </a:extLst>
              </a:tr>
              <a:tr h="245640">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B</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012207"/>
                  </a:ext>
                </a:extLst>
              </a:tr>
              <a:tr h="245640">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K</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3788447"/>
                  </a:ext>
                </a:extLst>
              </a:tr>
              <a:tr h="245640">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P</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528889"/>
                  </a:ext>
                </a:extLst>
              </a:tr>
              <a:tr h="245640">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V</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8476104"/>
                  </a:ext>
                </a:extLst>
              </a:tr>
              <a:tr h="245640">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W</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8475196"/>
                  </a:ext>
                </a:extLst>
              </a:tr>
              <a:tr h="245640">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N</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6173418"/>
                  </a:ext>
                </a:extLst>
              </a:tr>
              <a:tr h="245640">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Q</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073451"/>
                  </a:ext>
                </a:extLst>
              </a:tr>
              <a:tr h="245640">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T</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1445105"/>
                  </a:ext>
                </a:extLst>
              </a:tr>
            </a:tbl>
          </a:graphicData>
        </a:graphic>
      </p:graphicFrame>
      <p:sp>
        <p:nvSpPr>
          <p:cNvPr id="6" name="Rectangle 1">
            <a:extLst>
              <a:ext uri="{FF2B5EF4-FFF2-40B4-BE49-F238E27FC236}">
                <a16:creationId xmlns:a16="http://schemas.microsoft.com/office/drawing/2014/main" id="{E2B50406-A8E5-5F90-A7E7-905AF01B3D77}"/>
              </a:ext>
            </a:extLst>
          </p:cNvPr>
          <p:cNvSpPr>
            <a:spLocks noChangeArrowheads="1"/>
          </p:cNvSpPr>
          <p:nvPr/>
        </p:nvSpPr>
        <p:spPr bwMode="auto">
          <a:xfrm>
            <a:off x="313512" y="1406251"/>
            <a:ext cx="658058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endParaRPr lang="en-US" sz="1350">
              <a:solidFill>
                <a:prstClr val="black"/>
              </a:solidFill>
              <a:latin typeface="Aptos" panose="02110004020202020204"/>
            </a:endParaRPr>
          </a:p>
        </p:txBody>
      </p:sp>
      <p:sp>
        <p:nvSpPr>
          <p:cNvPr id="8" name="TextBox 7">
            <a:extLst>
              <a:ext uri="{FF2B5EF4-FFF2-40B4-BE49-F238E27FC236}">
                <a16:creationId xmlns:a16="http://schemas.microsoft.com/office/drawing/2014/main" id="{AD3F43CE-CB11-68C4-1575-EE92B46E4566}"/>
              </a:ext>
            </a:extLst>
          </p:cNvPr>
          <p:cNvSpPr txBox="1"/>
          <p:nvPr/>
        </p:nvSpPr>
        <p:spPr>
          <a:xfrm>
            <a:off x="6222733" y="895707"/>
            <a:ext cx="2427371" cy="300082"/>
          </a:xfrm>
          <a:prstGeom prst="rect">
            <a:avLst/>
          </a:prstGeom>
          <a:noFill/>
        </p:spPr>
        <p:txBody>
          <a:bodyPr wrap="square">
            <a:spAutoFit/>
          </a:bodyPr>
          <a:lstStyle/>
          <a:p>
            <a:pPr defTabSz="685800"/>
            <a:r>
              <a:rPr lang="en-US" sz="1350">
                <a:solidFill>
                  <a:prstClr val="black"/>
                </a:solidFill>
                <a:latin typeface="Aptos" panose="02110004020202020204"/>
              </a:rPr>
              <a:t>Standings after Round 5:</a:t>
            </a:r>
          </a:p>
        </p:txBody>
      </p:sp>
      <p:graphicFrame>
        <p:nvGraphicFramePr>
          <p:cNvPr id="9" name="Table 8">
            <a:extLst>
              <a:ext uri="{FF2B5EF4-FFF2-40B4-BE49-F238E27FC236}">
                <a16:creationId xmlns:a16="http://schemas.microsoft.com/office/drawing/2014/main" id="{FFCFB830-02C3-553D-E3C2-8C4727E19F52}"/>
              </a:ext>
            </a:extLst>
          </p:cNvPr>
          <p:cNvGraphicFramePr>
            <a:graphicFrameLocks noGrp="1"/>
          </p:cNvGraphicFramePr>
          <p:nvPr/>
        </p:nvGraphicFramePr>
        <p:xfrm>
          <a:off x="4685699" y="1526991"/>
          <a:ext cx="4229704" cy="1882032"/>
        </p:xfrm>
        <a:graphic>
          <a:graphicData uri="http://schemas.openxmlformats.org/drawingml/2006/table">
            <a:tbl>
              <a:tblPr/>
              <a:tblGrid>
                <a:gridCol w="1057426">
                  <a:extLst>
                    <a:ext uri="{9D8B030D-6E8A-4147-A177-3AD203B41FA5}">
                      <a16:colId xmlns:a16="http://schemas.microsoft.com/office/drawing/2014/main" val="3224452793"/>
                    </a:ext>
                  </a:extLst>
                </a:gridCol>
                <a:gridCol w="1057426">
                  <a:extLst>
                    <a:ext uri="{9D8B030D-6E8A-4147-A177-3AD203B41FA5}">
                      <a16:colId xmlns:a16="http://schemas.microsoft.com/office/drawing/2014/main" val="2027280156"/>
                    </a:ext>
                  </a:extLst>
                </a:gridCol>
                <a:gridCol w="1057426">
                  <a:extLst>
                    <a:ext uri="{9D8B030D-6E8A-4147-A177-3AD203B41FA5}">
                      <a16:colId xmlns:a16="http://schemas.microsoft.com/office/drawing/2014/main" val="2569170736"/>
                    </a:ext>
                  </a:extLst>
                </a:gridCol>
                <a:gridCol w="1057426">
                  <a:extLst>
                    <a:ext uri="{9D8B030D-6E8A-4147-A177-3AD203B41FA5}">
                      <a16:colId xmlns:a16="http://schemas.microsoft.com/office/drawing/2014/main" val="2028796371"/>
                    </a:ext>
                  </a:extLst>
                </a:gridCol>
              </a:tblGrid>
              <a:tr h="235254">
                <a:tc>
                  <a:txBody>
                    <a:bodyPr/>
                    <a:lstStyle/>
                    <a:p>
                      <a:pPr>
                        <a:buNone/>
                      </a:pPr>
                      <a:r>
                        <a:rPr lang="en-US" sz="10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843976"/>
                  </a:ext>
                </a:extLst>
              </a:tr>
              <a:tr h="235254">
                <a:tc>
                  <a:txBody>
                    <a:bodyPr/>
                    <a:lstStyle/>
                    <a:p>
                      <a:pPr>
                        <a:buNone/>
                      </a:pPr>
                      <a:r>
                        <a:rPr lang="en-US" sz="1000"/>
                        <a:t>1–5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A,C,F,H,O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0132411"/>
                  </a:ext>
                </a:extLst>
              </a:tr>
              <a:tr h="235254">
                <a:tc>
                  <a:txBody>
                    <a:bodyPr/>
                    <a:lstStyle/>
                    <a:p>
                      <a:pPr>
                        <a:buNone/>
                      </a:pPr>
                      <a:r>
                        <a:rPr lang="en-US" sz="1000"/>
                        <a:t>6–11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B,E,I,K,P,R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1152265"/>
                  </a:ext>
                </a:extLst>
              </a:tr>
              <a:tr h="235254">
                <a:tc>
                  <a:txBody>
                    <a:bodyPr/>
                    <a:lstStyle/>
                    <a:p>
                      <a:pPr>
                        <a:buNone/>
                      </a:pPr>
                      <a:r>
                        <a:rPr lang="en-US" sz="1000"/>
                        <a:t>12–13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V,W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359953"/>
                  </a:ext>
                </a:extLst>
              </a:tr>
              <a:tr h="235254">
                <a:tc>
                  <a:txBody>
                    <a:bodyPr/>
                    <a:lstStyle/>
                    <a:p>
                      <a:pPr>
                        <a:buNone/>
                      </a:pPr>
                      <a:r>
                        <a:rPr lang="en-US" sz="1000"/>
                        <a:t>14–19</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D,J,N,Q,S,T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6773218"/>
                  </a:ext>
                </a:extLst>
              </a:tr>
              <a:tr h="235254">
                <a:tc>
                  <a:txBody>
                    <a:bodyPr/>
                    <a:lstStyle/>
                    <a:p>
                      <a:pPr>
                        <a:buNone/>
                      </a:pPr>
                      <a:r>
                        <a:rPr lang="en-US" sz="1000"/>
                        <a:t>20–21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2410006"/>
                  </a:ext>
                </a:extLst>
              </a:tr>
              <a:tr h="235254">
                <a:tc>
                  <a:txBody>
                    <a:bodyPr/>
                    <a:lstStyle/>
                    <a:p>
                      <a:pPr>
                        <a:buNone/>
                      </a:pPr>
                      <a:r>
                        <a:rPr lang="en-US" sz="1000"/>
                        <a:t>22–23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G,M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1–4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8018474"/>
                  </a:ext>
                </a:extLst>
              </a:tr>
              <a:tr h="235254">
                <a:tc>
                  <a:txBody>
                    <a:bodyPr/>
                    <a:lstStyle/>
                    <a:p>
                      <a:pPr>
                        <a:buNone/>
                      </a:pPr>
                      <a:r>
                        <a:rPr lang="en-US" sz="1000"/>
                        <a:t>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U</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0–6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537621"/>
                  </a:ext>
                </a:extLst>
              </a:tr>
            </a:tbl>
          </a:graphicData>
        </a:graphic>
      </p:graphicFrame>
      <p:sp>
        <p:nvSpPr>
          <p:cNvPr id="10" name="Date Placeholder 9">
            <a:extLst>
              <a:ext uri="{FF2B5EF4-FFF2-40B4-BE49-F238E27FC236}">
                <a16:creationId xmlns:a16="http://schemas.microsoft.com/office/drawing/2014/main" id="{A0128149-DAE5-3F7E-C31B-B4FDDEB5F1B7}"/>
              </a:ext>
            </a:extLst>
          </p:cNvPr>
          <p:cNvSpPr>
            <a:spLocks noGrp="1"/>
          </p:cNvSpPr>
          <p:nvPr>
            <p:ph type="dt" sz="half" idx="10"/>
          </p:nvPr>
        </p:nvSpPr>
        <p:spPr/>
        <p:txBody>
          <a:bodyPr/>
          <a:lstStyle/>
          <a:p>
            <a:pPr defTabSz="685800"/>
            <a:fld id="{B1E9B83E-900A-0A4A-8F6D-3855FC0C7006}"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1" name="Footer Placeholder 10">
            <a:extLst>
              <a:ext uri="{FF2B5EF4-FFF2-40B4-BE49-F238E27FC236}">
                <a16:creationId xmlns:a16="http://schemas.microsoft.com/office/drawing/2014/main" id="{ACB3FC8A-E42A-0D4F-BA12-46BC1011BDF7}"/>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2" name="Slide Number Placeholder 11">
            <a:extLst>
              <a:ext uri="{FF2B5EF4-FFF2-40B4-BE49-F238E27FC236}">
                <a16:creationId xmlns:a16="http://schemas.microsoft.com/office/drawing/2014/main" id="{6FA82C19-12AA-76BC-86CE-0925B6AB9265}"/>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23</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1930251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DF14F-FBF8-A18A-4ED3-9D7CF3058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846EE-1C3B-5FC5-FE59-B2A8F44C122E}"/>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4" name="TextBox 3">
            <a:extLst>
              <a:ext uri="{FF2B5EF4-FFF2-40B4-BE49-F238E27FC236}">
                <a16:creationId xmlns:a16="http://schemas.microsoft.com/office/drawing/2014/main" id="{E4D8EFBC-2BD1-08DF-146B-954218A19958}"/>
              </a:ext>
            </a:extLst>
          </p:cNvPr>
          <p:cNvSpPr txBox="1"/>
          <p:nvPr/>
        </p:nvSpPr>
        <p:spPr>
          <a:xfrm>
            <a:off x="628650" y="706919"/>
            <a:ext cx="4573203" cy="507831"/>
          </a:xfrm>
          <a:prstGeom prst="rect">
            <a:avLst/>
          </a:prstGeom>
          <a:noFill/>
        </p:spPr>
        <p:txBody>
          <a:bodyPr wrap="square">
            <a:spAutoFit/>
          </a:bodyPr>
          <a:lstStyle/>
          <a:p>
            <a:pPr defTabSz="685800"/>
            <a:r>
              <a:rPr lang="en-US" sz="1350" b="1">
                <a:solidFill>
                  <a:prstClr val="black"/>
                </a:solidFill>
                <a:latin typeface="Aptos" panose="02110004020202020204"/>
              </a:rPr>
              <a:t>ROUND 6 ★ Team M plays 2 matches</a:t>
            </a:r>
          </a:p>
          <a:p>
            <a:pPr defTabSz="685800"/>
            <a:r>
              <a:rPr lang="en-US" sz="1350" b="1">
                <a:solidFill>
                  <a:prstClr val="black"/>
                </a:solidFill>
                <a:latin typeface="Aptos" panose="02110004020202020204"/>
              </a:rPr>
              <a:t>Method: Swiss pairing by W-L record</a:t>
            </a:r>
            <a:endParaRPr lang="en-US" sz="1350">
              <a:solidFill>
                <a:prstClr val="black"/>
              </a:solidFill>
              <a:latin typeface="Aptos" panose="02110004020202020204"/>
            </a:endParaRPr>
          </a:p>
        </p:txBody>
      </p:sp>
      <p:sp>
        <p:nvSpPr>
          <p:cNvPr id="7" name="TextBox 6">
            <a:extLst>
              <a:ext uri="{FF2B5EF4-FFF2-40B4-BE49-F238E27FC236}">
                <a16:creationId xmlns:a16="http://schemas.microsoft.com/office/drawing/2014/main" id="{6D042BD8-3A79-4CCA-6F2B-A4458AB5B1E8}"/>
              </a:ext>
            </a:extLst>
          </p:cNvPr>
          <p:cNvSpPr txBox="1"/>
          <p:nvPr/>
        </p:nvSpPr>
        <p:spPr>
          <a:xfrm>
            <a:off x="6459153" y="922427"/>
            <a:ext cx="2167489" cy="300082"/>
          </a:xfrm>
          <a:prstGeom prst="rect">
            <a:avLst/>
          </a:prstGeom>
          <a:noFill/>
        </p:spPr>
        <p:txBody>
          <a:bodyPr wrap="square">
            <a:spAutoFit/>
          </a:bodyPr>
          <a:lstStyle/>
          <a:p>
            <a:pPr defTabSz="685800"/>
            <a:r>
              <a:rPr lang="en-US" sz="1350">
                <a:solidFill>
                  <a:prstClr val="black"/>
                </a:solidFill>
                <a:latin typeface="Aptos" panose="02110004020202020204"/>
              </a:rPr>
              <a:t>Standings after Round 6:</a:t>
            </a:r>
          </a:p>
        </p:txBody>
      </p:sp>
      <p:graphicFrame>
        <p:nvGraphicFramePr>
          <p:cNvPr id="9" name="Table 8">
            <a:extLst>
              <a:ext uri="{FF2B5EF4-FFF2-40B4-BE49-F238E27FC236}">
                <a16:creationId xmlns:a16="http://schemas.microsoft.com/office/drawing/2014/main" id="{AB92B15F-DDB6-C8F2-D322-0E6B0A8D0C3C}"/>
              </a:ext>
            </a:extLst>
          </p:cNvPr>
          <p:cNvGraphicFramePr>
            <a:graphicFrameLocks noGrp="1"/>
          </p:cNvGraphicFramePr>
          <p:nvPr/>
        </p:nvGraphicFramePr>
        <p:xfrm>
          <a:off x="5158510" y="1456216"/>
          <a:ext cx="3630528" cy="1937385"/>
        </p:xfrm>
        <a:graphic>
          <a:graphicData uri="http://schemas.openxmlformats.org/drawingml/2006/table">
            <a:tbl>
              <a:tblPr/>
              <a:tblGrid>
                <a:gridCol w="907632">
                  <a:extLst>
                    <a:ext uri="{9D8B030D-6E8A-4147-A177-3AD203B41FA5}">
                      <a16:colId xmlns:a16="http://schemas.microsoft.com/office/drawing/2014/main" val="41230767"/>
                    </a:ext>
                  </a:extLst>
                </a:gridCol>
                <a:gridCol w="907632">
                  <a:extLst>
                    <a:ext uri="{9D8B030D-6E8A-4147-A177-3AD203B41FA5}">
                      <a16:colId xmlns:a16="http://schemas.microsoft.com/office/drawing/2014/main" val="3569917128"/>
                    </a:ext>
                  </a:extLst>
                </a:gridCol>
                <a:gridCol w="907632">
                  <a:extLst>
                    <a:ext uri="{9D8B030D-6E8A-4147-A177-3AD203B41FA5}">
                      <a16:colId xmlns:a16="http://schemas.microsoft.com/office/drawing/2014/main" val="3899661098"/>
                    </a:ext>
                  </a:extLst>
                </a:gridCol>
                <a:gridCol w="907632">
                  <a:extLst>
                    <a:ext uri="{9D8B030D-6E8A-4147-A177-3AD203B41FA5}">
                      <a16:colId xmlns:a16="http://schemas.microsoft.com/office/drawing/2014/main" val="68494692"/>
                    </a:ext>
                  </a:extLst>
                </a:gridCol>
              </a:tblGrid>
              <a:tr h="222885">
                <a:tc>
                  <a:txBody>
                    <a:bodyPr/>
                    <a:lstStyle/>
                    <a:p>
                      <a:pPr>
                        <a:buNone/>
                      </a:pPr>
                      <a:r>
                        <a:rPr lang="en-US" sz="10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226586"/>
                  </a:ext>
                </a:extLst>
              </a:tr>
              <a:tr h="222885">
                <a:tc>
                  <a:txBody>
                    <a:bodyPr/>
                    <a:lstStyle/>
                    <a:p>
                      <a:pPr>
                        <a:buNone/>
                      </a:pPr>
                      <a:r>
                        <a:rPr lang="en-US" sz="1000"/>
                        <a:t>1–2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4786439"/>
                  </a:ext>
                </a:extLst>
              </a:tr>
              <a:tr h="222885">
                <a:tc>
                  <a:txBody>
                    <a:bodyPr/>
                    <a:lstStyle/>
                    <a:p>
                      <a:pPr>
                        <a:buNone/>
                      </a:pPr>
                      <a:r>
                        <a:rPr lang="en-US" sz="1000"/>
                        <a:t>3–8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A,B,F,I,O,P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858150"/>
                  </a:ext>
                </a:extLst>
              </a:tr>
              <a:tr h="222885">
                <a:tc>
                  <a:txBody>
                    <a:bodyPr/>
                    <a:lstStyle/>
                    <a:p>
                      <a:pPr>
                        <a:buNone/>
                      </a:pPr>
                      <a:r>
                        <a:rPr lang="en-US" sz="1000"/>
                        <a:t>9</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V</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8370253"/>
                  </a:ext>
                </a:extLst>
              </a:tr>
              <a:tr h="377190">
                <a:tc>
                  <a:txBody>
                    <a:bodyPr/>
                    <a:lstStyle/>
                    <a:p>
                      <a:pPr>
                        <a:buNone/>
                      </a:pPr>
                      <a:r>
                        <a:rPr lang="en-US" sz="1000"/>
                        <a:t>10–17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D,E,J,K,N,R,S,W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126689"/>
                  </a:ext>
                </a:extLst>
              </a:tr>
              <a:tr h="222885">
                <a:tc>
                  <a:txBody>
                    <a:bodyPr/>
                    <a:lstStyle/>
                    <a:p>
                      <a:pPr>
                        <a:buNone/>
                      </a:pPr>
                      <a:r>
                        <a:rPr lang="en-US" sz="1000"/>
                        <a:t>18–19</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G,Q</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0778093"/>
                  </a:ext>
                </a:extLst>
              </a:tr>
              <a:tr h="222885">
                <a:tc>
                  <a:txBody>
                    <a:bodyPr/>
                    <a:lstStyle/>
                    <a:p>
                      <a:pPr>
                        <a:buNone/>
                      </a:pPr>
                      <a:r>
                        <a:rPr lang="en-US" sz="1000"/>
                        <a:t>20–22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L,T,M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363388"/>
                  </a:ext>
                </a:extLst>
              </a:tr>
              <a:tr h="222885">
                <a:tc>
                  <a:txBody>
                    <a:bodyPr/>
                    <a:lstStyle/>
                    <a:p>
                      <a:pPr>
                        <a:buNone/>
                      </a:pPr>
                      <a:r>
                        <a:rPr lang="en-US" sz="1000"/>
                        <a:t>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U</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1–6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740569"/>
                  </a:ext>
                </a:extLst>
              </a:tr>
            </a:tbl>
          </a:graphicData>
        </a:graphic>
      </p:graphicFrame>
      <p:sp>
        <p:nvSpPr>
          <p:cNvPr id="10" name="Rectangle 1">
            <a:extLst>
              <a:ext uri="{FF2B5EF4-FFF2-40B4-BE49-F238E27FC236}">
                <a16:creationId xmlns:a16="http://schemas.microsoft.com/office/drawing/2014/main" id="{D43B9EEC-A3CA-827A-4056-1C63AB6B3BEE}"/>
              </a:ext>
            </a:extLst>
          </p:cNvPr>
          <p:cNvSpPr>
            <a:spLocks noChangeArrowheads="1"/>
          </p:cNvSpPr>
          <p:nvPr/>
        </p:nvSpPr>
        <p:spPr bwMode="auto">
          <a:xfrm>
            <a:off x="4869119" y="1197076"/>
            <a:ext cx="4209309" cy="27699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endParaRPr lang="en-US" sz="1350">
              <a:solidFill>
                <a:prstClr val="black"/>
              </a:solidFill>
              <a:latin typeface="Aptos" panose="02110004020202020204"/>
            </a:endParaRPr>
          </a:p>
        </p:txBody>
      </p:sp>
      <p:sp>
        <p:nvSpPr>
          <p:cNvPr id="11" name="Rectangle 2">
            <a:extLst>
              <a:ext uri="{FF2B5EF4-FFF2-40B4-BE49-F238E27FC236}">
                <a16:creationId xmlns:a16="http://schemas.microsoft.com/office/drawing/2014/main" id="{8F688878-E7A6-A0E0-BC40-6386DD7E59D9}"/>
              </a:ext>
            </a:extLst>
          </p:cNvPr>
          <p:cNvSpPr>
            <a:spLocks noChangeArrowheads="1"/>
          </p:cNvSpPr>
          <p:nvPr/>
        </p:nvSpPr>
        <p:spPr bwMode="auto">
          <a:xfrm>
            <a:off x="4643889" y="1333991"/>
            <a:ext cx="4209309" cy="380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en-US" altLang="en-US" sz="675" b="1">
              <a:solidFill>
                <a:prstClr val="black"/>
              </a:solidFill>
              <a:latin typeface="Arial" panose="020B0604020202020204" pitchFamily="34" charset="0"/>
            </a:endParaRPr>
          </a:p>
          <a:p>
            <a:pPr defTabSz="685800" eaLnBrk="0" fontAlgn="base" hangingPunct="0">
              <a:spcBef>
                <a:spcPct val="0"/>
              </a:spcBef>
              <a:spcAft>
                <a:spcPct val="0"/>
              </a:spcAft>
            </a:pPr>
            <a:endParaRPr lang="en-US" altLang="en-US" sz="1350">
              <a:solidFill>
                <a:prstClr val="black"/>
              </a:solidFill>
              <a:latin typeface="Arial" panose="020B0604020202020204" pitchFamily="34" charset="0"/>
            </a:endParaRPr>
          </a:p>
        </p:txBody>
      </p:sp>
      <p:graphicFrame>
        <p:nvGraphicFramePr>
          <p:cNvPr id="12" name="Table 11">
            <a:extLst>
              <a:ext uri="{FF2B5EF4-FFF2-40B4-BE49-F238E27FC236}">
                <a16:creationId xmlns:a16="http://schemas.microsoft.com/office/drawing/2014/main" id="{E179D539-2453-8299-6C6F-B090E876F855}"/>
              </a:ext>
            </a:extLst>
          </p:cNvPr>
          <p:cNvGraphicFramePr>
            <a:graphicFrameLocks noGrp="1"/>
          </p:cNvGraphicFramePr>
          <p:nvPr/>
        </p:nvGraphicFramePr>
        <p:xfrm>
          <a:off x="65572" y="1246712"/>
          <a:ext cx="4434540" cy="3193320"/>
        </p:xfrm>
        <a:graphic>
          <a:graphicData uri="http://schemas.openxmlformats.org/drawingml/2006/table">
            <a:tbl>
              <a:tblPr/>
              <a:tblGrid>
                <a:gridCol w="1108635">
                  <a:extLst>
                    <a:ext uri="{9D8B030D-6E8A-4147-A177-3AD203B41FA5}">
                      <a16:colId xmlns:a16="http://schemas.microsoft.com/office/drawing/2014/main" val="2140960849"/>
                    </a:ext>
                  </a:extLst>
                </a:gridCol>
                <a:gridCol w="1108635">
                  <a:extLst>
                    <a:ext uri="{9D8B030D-6E8A-4147-A177-3AD203B41FA5}">
                      <a16:colId xmlns:a16="http://schemas.microsoft.com/office/drawing/2014/main" val="2058418381"/>
                    </a:ext>
                  </a:extLst>
                </a:gridCol>
                <a:gridCol w="1108635">
                  <a:extLst>
                    <a:ext uri="{9D8B030D-6E8A-4147-A177-3AD203B41FA5}">
                      <a16:colId xmlns:a16="http://schemas.microsoft.com/office/drawing/2014/main" val="4144944390"/>
                    </a:ext>
                  </a:extLst>
                </a:gridCol>
                <a:gridCol w="1108635">
                  <a:extLst>
                    <a:ext uri="{9D8B030D-6E8A-4147-A177-3AD203B41FA5}">
                      <a16:colId xmlns:a16="http://schemas.microsoft.com/office/drawing/2014/main" val="3450195651"/>
                    </a:ext>
                  </a:extLst>
                </a:gridCol>
              </a:tblGrid>
              <a:tr h="245640">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127560"/>
                  </a:ext>
                </a:extLst>
              </a:tr>
              <a:tr h="245640">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C</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05613"/>
                  </a:ext>
                </a:extLst>
              </a:tr>
              <a:tr h="245640">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H</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9355750"/>
                  </a:ext>
                </a:extLst>
              </a:tr>
              <a:tr h="245640">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B</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8651144"/>
                  </a:ext>
                </a:extLst>
              </a:tr>
              <a:tr h="245640">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I</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2781733"/>
                  </a:ext>
                </a:extLst>
              </a:tr>
              <a:tr h="245640">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P</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756103"/>
                  </a:ext>
                </a:extLst>
              </a:tr>
              <a:tr h="245640">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V</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8317673"/>
                  </a:ext>
                </a:extLst>
              </a:tr>
              <a:tr h="245640">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D</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954749"/>
                  </a:ext>
                </a:extLst>
              </a:tr>
              <a:tr h="245640">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J</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0574050"/>
                  </a:ext>
                </a:extLst>
              </a:tr>
              <a:tr h="245640">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N</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116757"/>
                  </a:ext>
                </a:extLst>
              </a:tr>
              <a:tr h="245640">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S</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438969"/>
                  </a:ext>
                </a:extLst>
              </a:tr>
              <a:tr h="245640">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G</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205911"/>
                  </a:ext>
                </a:extLst>
              </a:tr>
              <a:tr h="245640">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U</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7458268"/>
                  </a:ext>
                </a:extLst>
              </a:tr>
            </a:tbl>
          </a:graphicData>
        </a:graphic>
      </p:graphicFrame>
      <p:sp>
        <p:nvSpPr>
          <p:cNvPr id="13" name="Date Placeholder 12">
            <a:extLst>
              <a:ext uri="{FF2B5EF4-FFF2-40B4-BE49-F238E27FC236}">
                <a16:creationId xmlns:a16="http://schemas.microsoft.com/office/drawing/2014/main" id="{E31FA2DE-F1FA-2AF1-F246-16F6E64009F5}"/>
              </a:ext>
            </a:extLst>
          </p:cNvPr>
          <p:cNvSpPr>
            <a:spLocks noGrp="1"/>
          </p:cNvSpPr>
          <p:nvPr>
            <p:ph type="dt" sz="half" idx="10"/>
          </p:nvPr>
        </p:nvSpPr>
        <p:spPr/>
        <p:txBody>
          <a:bodyPr/>
          <a:lstStyle/>
          <a:p>
            <a:pPr defTabSz="685800"/>
            <a:fld id="{EF5996FF-2A30-7649-87E9-8A464EADE669}"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4" name="Footer Placeholder 13">
            <a:extLst>
              <a:ext uri="{FF2B5EF4-FFF2-40B4-BE49-F238E27FC236}">
                <a16:creationId xmlns:a16="http://schemas.microsoft.com/office/drawing/2014/main" id="{C81CA3C4-D65B-94F5-5937-A8B03AB9478F}"/>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5" name="Slide Number Placeholder 14">
            <a:extLst>
              <a:ext uri="{FF2B5EF4-FFF2-40B4-BE49-F238E27FC236}">
                <a16:creationId xmlns:a16="http://schemas.microsoft.com/office/drawing/2014/main" id="{C6A97868-8B65-9AA2-C1D7-4EAE3B391C4B}"/>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24</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2282233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A2EB8-8B33-2E0D-7A79-8D45F01D9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673C3-DA53-92E5-274B-D563262264E8}"/>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4" name="TextBox 3">
            <a:extLst>
              <a:ext uri="{FF2B5EF4-FFF2-40B4-BE49-F238E27FC236}">
                <a16:creationId xmlns:a16="http://schemas.microsoft.com/office/drawing/2014/main" id="{E11A0C3D-8D39-1EB3-4A5F-3501B74EAD0A}"/>
              </a:ext>
            </a:extLst>
          </p:cNvPr>
          <p:cNvSpPr txBox="1"/>
          <p:nvPr/>
        </p:nvSpPr>
        <p:spPr>
          <a:xfrm>
            <a:off x="481865" y="678043"/>
            <a:ext cx="4573203" cy="507831"/>
          </a:xfrm>
          <a:prstGeom prst="rect">
            <a:avLst/>
          </a:prstGeom>
          <a:noFill/>
        </p:spPr>
        <p:txBody>
          <a:bodyPr wrap="square">
            <a:spAutoFit/>
          </a:bodyPr>
          <a:lstStyle/>
          <a:p>
            <a:pPr defTabSz="685800"/>
            <a:r>
              <a:rPr lang="en-US" sz="1350" b="1">
                <a:solidFill>
                  <a:prstClr val="black"/>
                </a:solidFill>
                <a:latin typeface="Aptos" panose="02110004020202020204"/>
              </a:rPr>
              <a:t>ROUND 7 ★ Team Q plays 2 matches</a:t>
            </a:r>
          </a:p>
          <a:p>
            <a:pPr defTabSz="685800"/>
            <a:r>
              <a:rPr lang="en-US" sz="1350" b="1">
                <a:solidFill>
                  <a:prstClr val="black"/>
                </a:solidFill>
                <a:latin typeface="Aptos" panose="02110004020202020204"/>
              </a:rPr>
              <a:t>Method: Swiss pairing by W-L record</a:t>
            </a:r>
            <a:endParaRPr lang="en-US" sz="1350">
              <a:solidFill>
                <a:prstClr val="black"/>
              </a:solidFill>
              <a:latin typeface="Aptos" panose="02110004020202020204"/>
            </a:endParaRPr>
          </a:p>
        </p:txBody>
      </p:sp>
      <p:graphicFrame>
        <p:nvGraphicFramePr>
          <p:cNvPr id="5" name="Table 4">
            <a:extLst>
              <a:ext uri="{FF2B5EF4-FFF2-40B4-BE49-F238E27FC236}">
                <a16:creationId xmlns:a16="http://schemas.microsoft.com/office/drawing/2014/main" id="{A1413412-BCED-1BD5-CBC6-816B990D5B24}"/>
              </a:ext>
            </a:extLst>
          </p:cNvPr>
          <p:cNvGraphicFramePr>
            <a:graphicFrameLocks noGrp="1"/>
          </p:cNvGraphicFramePr>
          <p:nvPr/>
        </p:nvGraphicFramePr>
        <p:xfrm>
          <a:off x="481967" y="1293997"/>
          <a:ext cx="3541304" cy="3263507"/>
        </p:xfrm>
        <a:graphic>
          <a:graphicData uri="http://schemas.openxmlformats.org/drawingml/2006/table">
            <a:tbl>
              <a:tblPr/>
              <a:tblGrid>
                <a:gridCol w="885326">
                  <a:extLst>
                    <a:ext uri="{9D8B030D-6E8A-4147-A177-3AD203B41FA5}">
                      <a16:colId xmlns:a16="http://schemas.microsoft.com/office/drawing/2014/main" val="2914165247"/>
                    </a:ext>
                  </a:extLst>
                </a:gridCol>
                <a:gridCol w="885326">
                  <a:extLst>
                    <a:ext uri="{9D8B030D-6E8A-4147-A177-3AD203B41FA5}">
                      <a16:colId xmlns:a16="http://schemas.microsoft.com/office/drawing/2014/main" val="2116440698"/>
                    </a:ext>
                  </a:extLst>
                </a:gridCol>
                <a:gridCol w="885326">
                  <a:extLst>
                    <a:ext uri="{9D8B030D-6E8A-4147-A177-3AD203B41FA5}">
                      <a16:colId xmlns:a16="http://schemas.microsoft.com/office/drawing/2014/main" val="4104252304"/>
                    </a:ext>
                  </a:extLst>
                </a:gridCol>
                <a:gridCol w="885326">
                  <a:extLst>
                    <a:ext uri="{9D8B030D-6E8A-4147-A177-3AD203B41FA5}">
                      <a16:colId xmlns:a16="http://schemas.microsoft.com/office/drawing/2014/main" val="2529569536"/>
                    </a:ext>
                  </a:extLst>
                </a:gridCol>
              </a:tblGrid>
              <a:tr h="251039">
                <a:tc>
                  <a:txBody>
                    <a:bodyPr/>
                    <a:lstStyle/>
                    <a:p>
                      <a:pPr>
                        <a:buNone/>
                      </a:pPr>
                      <a:r>
                        <a:rPr lang="en-US" sz="1200"/>
                        <a:t>Match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Team 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Winner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1443809"/>
                  </a:ext>
                </a:extLst>
              </a:tr>
              <a:tr h="251039">
                <a:tc>
                  <a:txBody>
                    <a:bodyPr/>
                    <a:lstStyle/>
                    <a:p>
                      <a:pPr>
                        <a:buNone/>
                      </a:pPr>
                      <a:r>
                        <a:rPr lang="en-US" sz="1200"/>
                        <a:t>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C</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H</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H</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859898"/>
                  </a:ext>
                </a:extLst>
              </a:tr>
              <a:tr h="251039">
                <a:tc>
                  <a:txBody>
                    <a:bodyPr/>
                    <a:lstStyle/>
                    <a:p>
                      <a:pPr>
                        <a:buNone/>
                      </a:pPr>
                      <a:r>
                        <a:rPr lang="en-US" sz="1200"/>
                        <a:t>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A</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2698911"/>
                  </a:ext>
                </a:extLst>
              </a:tr>
              <a:tr h="251039">
                <a:tc>
                  <a:txBody>
                    <a:bodyPr/>
                    <a:lstStyle/>
                    <a:p>
                      <a:pPr>
                        <a:buNone/>
                      </a:pPr>
                      <a:r>
                        <a:rPr lang="en-US" sz="1200"/>
                        <a:t>3</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I</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8550154"/>
                  </a:ext>
                </a:extLst>
              </a:tr>
              <a:tr h="251039">
                <a:tc>
                  <a:txBody>
                    <a:bodyPr/>
                    <a:lstStyle/>
                    <a:p>
                      <a:pPr>
                        <a:buNone/>
                      </a:pPr>
                      <a:r>
                        <a:rPr lang="en-US" sz="1200"/>
                        <a:t>4</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O</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O</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6337393"/>
                  </a:ext>
                </a:extLst>
              </a:tr>
              <a:tr h="251039">
                <a:tc>
                  <a:txBody>
                    <a:bodyPr/>
                    <a:lstStyle/>
                    <a:p>
                      <a:pPr>
                        <a:buNone/>
                      </a:pPr>
                      <a:r>
                        <a:rPr lang="en-US" sz="1200"/>
                        <a:t>5</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D</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9019369"/>
                  </a:ext>
                </a:extLst>
              </a:tr>
              <a:tr h="251039">
                <a:tc>
                  <a:txBody>
                    <a:bodyPr/>
                    <a:lstStyle/>
                    <a:p>
                      <a:pPr>
                        <a:buNone/>
                      </a:pPr>
                      <a:r>
                        <a:rPr lang="en-US" sz="1200"/>
                        <a:t>6</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E</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J</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E</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510445"/>
                  </a:ext>
                </a:extLst>
              </a:tr>
              <a:tr h="251039">
                <a:tc>
                  <a:txBody>
                    <a:bodyPr/>
                    <a:lstStyle/>
                    <a:p>
                      <a:pPr>
                        <a:buNone/>
                      </a:pPr>
                      <a:r>
                        <a:rPr lang="en-US" sz="1200"/>
                        <a:t>7</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N</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K</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4174403"/>
                  </a:ext>
                </a:extLst>
              </a:tr>
              <a:tr h="251039">
                <a:tc>
                  <a:txBody>
                    <a:bodyPr/>
                    <a:lstStyle/>
                    <a:p>
                      <a:pPr>
                        <a:buNone/>
                      </a:pPr>
                      <a:r>
                        <a:rPr lang="en-US" sz="1200"/>
                        <a:t>8</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R</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2713279"/>
                  </a:ext>
                </a:extLst>
              </a:tr>
              <a:tr h="251039">
                <a:tc>
                  <a:txBody>
                    <a:bodyPr/>
                    <a:lstStyle/>
                    <a:p>
                      <a:pPr>
                        <a:buNone/>
                      </a:pPr>
                      <a:r>
                        <a:rPr lang="en-US" sz="1200"/>
                        <a:t>9</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G</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G</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112093"/>
                  </a:ext>
                </a:extLst>
              </a:tr>
              <a:tr h="251039">
                <a:tc>
                  <a:txBody>
                    <a:bodyPr/>
                    <a:lstStyle/>
                    <a:p>
                      <a:pPr>
                        <a:buNone/>
                      </a:pPr>
                      <a:r>
                        <a:rPr lang="en-US" sz="1200"/>
                        <a:t>10</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L</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L</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401157"/>
                  </a:ext>
                </a:extLst>
              </a:tr>
              <a:tr h="251039">
                <a:tc>
                  <a:txBody>
                    <a:bodyPr/>
                    <a:lstStyle/>
                    <a:p>
                      <a:pPr>
                        <a:buNone/>
                      </a:pPr>
                      <a:r>
                        <a:rPr lang="en-US" sz="1200"/>
                        <a:t>11</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Q</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T</a:t>
                      </a:r>
                      <a:r>
                        <a:rPr lang="en-US" sz="1200"/>
                        <a:t> ← upset</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3702730"/>
                  </a:ext>
                </a:extLst>
              </a:tr>
              <a:tr h="251039">
                <a:tc>
                  <a:txBody>
                    <a:bodyPr/>
                    <a:lstStyle/>
                    <a:p>
                      <a:pPr>
                        <a:buNone/>
                      </a:pPr>
                      <a:r>
                        <a:rPr lang="en-US" sz="1200"/>
                        <a:t>12</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U</a:t>
                      </a:r>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U</a:t>
                      </a:r>
                      <a:endParaRPr lang="en-US" sz="1200"/>
                    </a:p>
                  </a:txBody>
                  <a:tcPr marL="62760" marR="62760" marT="31380" marB="313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8666841"/>
                  </a:ext>
                </a:extLst>
              </a:tr>
            </a:tbl>
          </a:graphicData>
        </a:graphic>
      </p:graphicFrame>
      <p:sp>
        <p:nvSpPr>
          <p:cNvPr id="6" name="Rectangle 1">
            <a:extLst>
              <a:ext uri="{FF2B5EF4-FFF2-40B4-BE49-F238E27FC236}">
                <a16:creationId xmlns:a16="http://schemas.microsoft.com/office/drawing/2014/main" id="{9836A490-4BEE-B566-24CE-4CCEE21575BA}"/>
              </a:ext>
            </a:extLst>
          </p:cNvPr>
          <p:cNvSpPr>
            <a:spLocks noChangeArrowheads="1"/>
          </p:cNvSpPr>
          <p:nvPr/>
        </p:nvSpPr>
        <p:spPr bwMode="auto">
          <a:xfrm>
            <a:off x="481865" y="1326947"/>
            <a:ext cx="448663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endParaRPr lang="en-US" sz="1350">
              <a:solidFill>
                <a:prstClr val="black"/>
              </a:solidFill>
              <a:latin typeface="Aptos" panose="02110004020202020204"/>
            </a:endParaRPr>
          </a:p>
        </p:txBody>
      </p:sp>
      <p:sp>
        <p:nvSpPr>
          <p:cNvPr id="8" name="TextBox 7">
            <a:extLst>
              <a:ext uri="{FF2B5EF4-FFF2-40B4-BE49-F238E27FC236}">
                <a16:creationId xmlns:a16="http://schemas.microsoft.com/office/drawing/2014/main" id="{3CD19853-A33D-BE5F-54D1-E234649167E5}"/>
              </a:ext>
            </a:extLst>
          </p:cNvPr>
          <p:cNvSpPr txBox="1"/>
          <p:nvPr/>
        </p:nvSpPr>
        <p:spPr>
          <a:xfrm>
            <a:off x="6011579" y="678042"/>
            <a:ext cx="2189146" cy="300082"/>
          </a:xfrm>
          <a:prstGeom prst="rect">
            <a:avLst/>
          </a:prstGeom>
          <a:noFill/>
        </p:spPr>
        <p:txBody>
          <a:bodyPr wrap="square">
            <a:spAutoFit/>
          </a:bodyPr>
          <a:lstStyle/>
          <a:p>
            <a:pPr defTabSz="685800"/>
            <a:r>
              <a:rPr lang="en-US" sz="1350">
                <a:solidFill>
                  <a:prstClr val="black"/>
                </a:solidFill>
                <a:latin typeface="Aptos" panose="02110004020202020204"/>
              </a:rPr>
              <a:t>Standings after Round 7</a:t>
            </a:r>
          </a:p>
        </p:txBody>
      </p:sp>
      <p:graphicFrame>
        <p:nvGraphicFramePr>
          <p:cNvPr id="9" name="Table 8">
            <a:extLst>
              <a:ext uri="{FF2B5EF4-FFF2-40B4-BE49-F238E27FC236}">
                <a16:creationId xmlns:a16="http://schemas.microsoft.com/office/drawing/2014/main" id="{48F0CE29-E08C-59D1-8910-D022CE09E3F7}"/>
              </a:ext>
            </a:extLst>
          </p:cNvPr>
          <p:cNvGraphicFramePr>
            <a:graphicFrameLocks noGrp="1"/>
          </p:cNvGraphicFramePr>
          <p:nvPr/>
        </p:nvGraphicFramePr>
        <p:xfrm>
          <a:off x="4501802" y="1172985"/>
          <a:ext cx="4299488" cy="2005965"/>
        </p:xfrm>
        <a:graphic>
          <a:graphicData uri="http://schemas.openxmlformats.org/drawingml/2006/table">
            <a:tbl>
              <a:tblPr/>
              <a:tblGrid>
                <a:gridCol w="1074872">
                  <a:extLst>
                    <a:ext uri="{9D8B030D-6E8A-4147-A177-3AD203B41FA5}">
                      <a16:colId xmlns:a16="http://schemas.microsoft.com/office/drawing/2014/main" val="90452824"/>
                    </a:ext>
                  </a:extLst>
                </a:gridCol>
                <a:gridCol w="1074872">
                  <a:extLst>
                    <a:ext uri="{9D8B030D-6E8A-4147-A177-3AD203B41FA5}">
                      <a16:colId xmlns:a16="http://schemas.microsoft.com/office/drawing/2014/main" val="3365658161"/>
                    </a:ext>
                  </a:extLst>
                </a:gridCol>
                <a:gridCol w="1074872">
                  <a:extLst>
                    <a:ext uri="{9D8B030D-6E8A-4147-A177-3AD203B41FA5}">
                      <a16:colId xmlns:a16="http://schemas.microsoft.com/office/drawing/2014/main" val="1836365798"/>
                    </a:ext>
                  </a:extLst>
                </a:gridCol>
                <a:gridCol w="1074872">
                  <a:extLst>
                    <a:ext uri="{9D8B030D-6E8A-4147-A177-3AD203B41FA5}">
                      <a16:colId xmlns:a16="http://schemas.microsoft.com/office/drawing/2014/main" val="3633580782"/>
                    </a:ext>
                  </a:extLst>
                </a:gridCol>
              </a:tblGrid>
              <a:tr h="222885">
                <a:tc>
                  <a:txBody>
                    <a:bodyPr/>
                    <a:lstStyle/>
                    <a:p>
                      <a:pPr>
                        <a:buNone/>
                      </a:pPr>
                      <a:r>
                        <a:rPr lang="en-US" sz="1000"/>
                        <a:t>Rank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Played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5281409"/>
                  </a:ext>
                </a:extLst>
              </a:tr>
              <a:tr h="222885">
                <a:tc>
                  <a:txBody>
                    <a:bodyPr/>
                    <a:lstStyle/>
                    <a:p>
                      <a:pPr>
                        <a:buNone/>
                      </a:pPr>
                      <a:r>
                        <a:rPr lang="en-US" sz="1000"/>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6–1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534800"/>
                  </a:ext>
                </a:extLst>
              </a:tr>
              <a:tr h="222885">
                <a:tc>
                  <a:txBody>
                    <a:bodyPr/>
                    <a:lstStyle/>
                    <a:p>
                      <a:pPr>
                        <a:buNone/>
                      </a:pPr>
                      <a:r>
                        <a:rPr lang="en-US" sz="1000"/>
                        <a:t>2–5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A,C,I,O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5–2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5617645"/>
                  </a:ext>
                </a:extLst>
              </a:tr>
              <a:tr h="222885">
                <a:tc>
                  <a:txBody>
                    <a:bodyPr/>
                    <a:lstStyle/>
                    <a:p>
                      <a:pPr>
                        <a:buNone/>
                      </a:pPr>
                      <a:r>
                        <a:rPr lang="en-US" sz="1000"/>
                        <a:t>6–12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B,D,E,F,K,P,R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8926434"/>
                  </a:ext>
                </a:extLst>
              </a:tr>
              <a:tr h="222885">
                <a:tc>
                  <a:txBody>
                    <a:bodyPr/>
                    <a:lstStyle/>
                    <a:p>
                      <a:pPr>
                        <a:buNone/>
                      </a:pPr>
                      <a:r>
                        <a:rPr lang="en-US" sz="1000"/>
                        <a:t>13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V</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4–4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8 ★ (done)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8854065"/>
                  </a:ext>
                </a:extLst>
              </a:tr>
              <a:tr h="222885">
                <a:tc>
                  <a:txBody>
                    <a:bodyPr/>
                    <a:lstStyle/>
                    <a:p>
                      <a:pPr>
                        <a:buNone/>
                      </a:pPr>
                      <a:r>
                        <a:rPr lang="en-US" sz="1000"/>
                        <a:t>14–18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G,J,N,S,W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6471970"/>
                  </a:ext>
                </a:extLst>
              </a:tr>
              <a:tr h="222885">
                <a:tc>
                  <a:txBody>
                    <a:bodyPr/>
                    <a:lstStyle/>
                    <a:p>
                      <a:pPr>
                        <a:buNone/>
                      </a:pPr>
                      <a:r>
                        <a:rPr lang="en-US" sz="1000"/>
                        <a:t>19–20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L,T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3–5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8 ★ (done)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391387"/>
                  </a:ext>
                </a:extLst>
              </a:tr>
              <a:tr h="222885">
                <a:tc>
                  <a:txBody>
                    <a:bodyPr/>
                    <a:lstStyle/>
                    <a:p>
                      <a:pPr>
                        <a:buNone/>
                      </a:pPr>
                      <a:r>
                        <a:rPr lang="en-US" sz="1000"/>
                        <a:t>21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Q</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8 ★ (done)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934192"/>
                  </a:ext>
                </a:extLst>
              </a:tr>
              <a:tr h="222885">
                <a:tc>
                  <a:txBody>
                    <a:bodyPr/>
                    <a:lstStyle/>
                    <a:p>
                      <a:pPr>
                        <a:buNone/>
                      </a:pPr>
                      <a:r>
                        <a:rPr lang="en-US" sz="1000"/>
                        <a:t>22-23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U,M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2–6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8 ★ (done)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9772485"/>
                  </a:ext>
                </a:extLst>
              </a:tr>
            </a:tbl>
          </a:graphicData>
        </a:graphic>
      </p:graphicFrame>
      <p:sp>
        <p:nvSpPr>
          <p:cNvPr id="10" name="Rectangle 2">
            <a:extLst>
              <a:ext uri="{FF2B5EF4-FFF2-40B4-BE49-F238E27FC236}">
                <a16:creationId xmlns:a16="http://schemas.microsoft.com/office/drawing/2014/main" id="{4752FA44-1D95-6D0C-EC61-BC3AB635666B}"/>
              </a:ext>
            </a:extLst>
          </p:cNvPr>
          <p:cNvSpPr>
            <a:spLocks noChangeArrowheads="1"/>
          </p:cNvSpPr>
          <p:nvPr/>
        </p:nvSpPr>
        <p:spPr bwMode="auto">
          <a:xfrm>
            <a:off x="4159090" y="889030"/>
            <a:ext cx="4984910" cy="27699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a:endParaRPr lang="en-US" sz="1350">
              <a:solidFill>
                <a:prstClr val="black"/>
              </a:solidFill>
              <a:latin typeface="Aptos" panose="02110004020202020204"/>
            </a:endParaRPr>
          </a:p>
        </p:txBody>
      </p:sp>
      <p:sp>
        <p:nvSpPr>
          <p:cNvPr id="11" name="Rectangle 3">
            <a:extLst>
              <a:ext uri="{FF2B5EF4-FFF2-40B4-BE49-F238E27FC236}">
                <a16:creationId xmlns:a16="http://schemas.microsoft.com/office/drawing/2014/main" id="{9504FB50-51C0-3964-EF2C-B8E247BC607B}"/>
              </a:ext>
            </a:extLst>
          </p:cNvPr>
          <p:cNvSpPr>
            <a:spLocks noChangeArrowheads="1"/>
          </p:cNvSpPr>
          <p:nvPr/>
        </p:nvSpPr>
        <p:spPr bwMode="auto">
          <a:xfrm>
            <a:off x="3887815" y="1034414"/>
            <a:ext cx="4984910" cy="380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en-US" altLang="en-US" sz="675" b="1">
              <a:solidFill>
                <a:prstClr val="black"/>
              </a:solidFill>
              <a:latin typeface="Arial" panose="020B0604020202020204" pitchFamily="34" charset="0"/>
            </a:endParaRPr>
          </a:p>
          <a:p>
            <a:pPr defTabSz="685800" eaLnBrk="0" fontAlgn="base" hangingPunct="0">
              <a:spcBef>
                <a:spcPct val="0"/>
              </a:spcBef>
              <a:spcAft>
                <a:spcPct val="0"/>
              </a:spcAft>
            </a:pPr>
            <a:endParaRPr lang="en-US" altLang="en-US" sz="1350">
              <a:solidFill>
                <a:prstClr val="black"/>
              </a:solidFill>
              <a:latin typeface="Arial" panose="020B0604020202020204" pitchFamily="34" charset="0"/>
            </a:endParaRPr>
          </a:p>
        </p:txBody>
      </p:sp>
      <p:sp>
        <p:nvSpPr>
          <p:cNvPr id="12" name="Date Placeholder 11">
            <a:extLst>
              <a:ext uri="{FF2B5EF4-FFF2-40B4-BE49-F238E27FC236}">
                <a16:creationId xmlns:a16="http://schemas.microsoft.com/office/drawing/2014/main" id="{970ED440-AE64-DDA0-6607-C88AE02E328B}"/>
              </a:ext>
            </a:extLst>
          </p:cNvPr>
          <p:cNvSpPr>
            <a:spLocks noGrp="1"/>
          </p:cNvSpPr>
          <p:nvPr>
            <p:ph type="dt" sz="half" idx="10"/>
          </p:nvPr>
        </p:nvSpPr>
        <p:spPr/>
        <p:txBody>
          <a:bodyPr/>
          <a:lstStyle/>
          <a:p>
            <a:pPr defTabSz="685800"/>
            <a:fld id="{2FE10E56-FE88-4446-9420-64302496FFF4}"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3" name="Footer Placeholder 12">
            <a:extLst>
              <a:ext uri="{FF2B5EF4-FFF2-40B4-BE49-F238E27FC236}">
                <a16:creationId xmlns:a16="http://schemas.microsoft.com/office/drawing/2014/main" id="{03B206F9-E7DD-6CC8-0F74-466EA4DCA4B1}"/>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4" name="Slide Number Placeholder 13">
            <a:extLst>
              <a:ext uri="{FF2B5EF4-FFF2-40B4-BE49-F238E27FC236}">
                <a16:creationId xmlns:a16="http://schemas.microsoft.com/office/drawing/2014/main" id="{D98C3EEB-895A-D375-DB2D-DD6F889F725E}"/>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25</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3127153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DB06-149F-BBC0-0472-8C4D4B936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075A2-4F1F-D2ED-7F6C-09192892FBBE}"/>
              </a:ext>
            </a:extLst>
          </p:cNvPr>
          <p:cNvSpPr>
            <a:spLocks noGrp="1"/>
          </p:cNvSpPr>
          <p:nvPr>
            <p:ph type="title"/>
          </p:nvPr>
        </p:nvSpPr>
        <p:spPr>
          <a:xfrm>
            <a:off x="628650" y="115027"/>
            <a:ext cx="7886700" cy="426395"/>
          </a:xfrm>
        </p:spPr>
        <p:txBody>
          <a:bodyPr vert="horz" lIns="68580" tIns="34290" rIns="68580" bIns="34290" rtlCol="0" anchor="ctr">
            <a:noAutofit/>
          </a:bodyPr>
          <a:lstStyle/>
          <a:p>
            <a:pPr algn="ctr"/>
            <a:r>
              <a:rPr lang="en-US" sz="2400">
                <a:effectLst>
                  <a:outerShdw blurRad="50800" dist="38100" dir="2700000" algn="tl" rotWithShape="0">
                    <a:prstClr val="black">
                      <a:alpha val="40000"/>
                    </a:prstClr>
                  </a:outerShdw>
                </a:effectLst>
              </a:rPr>
              <a:t>`Virtual` OCL Tournament Run using Modified Swiss Format</a:t>
            </a:r>
          </a:p>
        </p:txBody>
      </p:sp>
      <p:sp>
        <p:nvSpPr>
          <p:cNvPr id="4" name="TextBox 3">
            <a:extLst>
              <a:ext uri="{FF2B5EF4-FFF2-40B4-BE49-F238E27FC236}">
                <a16:creationId xmlns:a16="http://schemas.microsoft.com/office/drawing/2014/main" id="{99E99044-6DCD-DC98-A889-334E60A6A852}"/>
              </a:ext>
            </a:extLst>
          </p:cNvPr>
          <p:cNvSpPr txBox="1"/>
          <p:nvPr/>
        </p:nvSpPr>
        <p:spPr>
          <a:xfrm>
            <a:off x="505928" y="600234"/>
            <a:ext cx="4994911" cy="715581"/>
          </a:xfrm>
          <a:prstGeom prst="rect">
            <a:avLst/>
          </a:prstGeom>
          <a:noFill/>
        </p:spPr>
        <p:txBody>
          <a:bodyPr wrap="square">
            <a:spAutoFit/>
          </a:bodyPr>
          <a:lstStyle/>
          <a:p>
            <a:pPr defTabSz="685800"/>
            <a:r>
              <a:rPr lang="en-US" sz="1350" b="1">
                <a:solidFill>
                  <a:prstClr val="black"/>
                </a:solidFill>
                <a:latin typeface="Aptos" panose="02110004020202020204"/>
              </a:rPr>
              <a:t>ROUND 8 — Final Round</a:t>
            </a:r>
          </a:p>
          <a:p>
            <a:pPr defTabSz="685800"/>
            <a:r>
              <a:rPr lang="en-US" sz="1350" b="1">
                <a:solidFill>
                  <a:prstClr val="black"/>
                </a:solidFill>
                <a:latin typeface="Aptos" panose="02110004020202020204"/>
              </a:rPr>
              <a:t>Teams excluded (already completed 8 matches): L, M, Q, T, U, V, W</a:t>
            </a:r>
            <a:r>
              <a:rPr lang="en-US" sz="1350">
                <a:solidFill>
                  <a:prstClr val="black"/>
                </a:solidFill>
                <a:latin typeface="Aptos" panose="02110004020202020204"/>
              </a:rPr>
              <a:t> </a:t>
            </a:r>
            <a:r>
              <a:rPr lang="en-US" sz="1350" b="1">
                <a:solidFill>
                  <a:prstClr val="black"/>
                </a:solidFill>
                <a:latin typeface="Aptos" panose="02110004020202020204"/>
              </a:rPr>
              <a:t>16 teams remain → 8 matches, no double-round needed</a:t>
            </a:r>
            <a:endParaRPr lang="en-US" sz="1350">
              <a:solidFill>
                <a:prstClr val="black"/>
              </a:solidFill>
              <a:latin typeface="Aptos" panose="02110004020202020204"/>
            </a:endParaRPr>
          </a:p>
        </p:txBody>
      </p:sp>
      <p:graphicFrame>
        <p:nvGraphicFramePr>
          <p:cNvPr id="5" name="Table 4">
            <a:extLst>
              <a:ext uri="{FF2B5EF4-FFF2-40B4-BE49-F238E27FC236}">
                <a16:creationId xmlns:a16="http://schemas.microsoft.com/office/drawing/2014/main" id="{CAB8566D-C6F2-84F5-CECF-7F87546C9652}"/>
              </a:ext>
            </a:extLst>
          </p:cNvPr>
          <p:cNvGraphicFramePr>
            <a:graphicFrameLocks noGrp="1"/>
          </p:cNvGraphicFramePr>
          <p:nvPr/>
        </p:nvGraphicFramePr>
        <p:xfrm>
          <a:off x="433739" y="1477772"/>
          <a:ext cx="4395740" cy="2005965"/>
        </p:xfrm>
        <a:graphic>
          <a:graphicData uri="http://schemas.openxmlformats.org/drawingml/2006/table">
            <a:tbl>
              <a:tblPr/>
              <a:tblGrid>
                <a:gridCol w="1098935">
                  <a:extLst>
                    <a:ext uri="{9D8B030D-6E8A-4147-A177-3AD203B41FA5}">
                      <a16:colId xmlns:a16="http://schemas.microsoft.com/office/drawing/2014/main" val="2309406585"/>
                    </a:ext>
                  </a:extLst>
                </a:gridCol>
                <a:gridCol w="1098935">
                  <a:extLst>
                    <a:ext uri="{9D8B030D-6E8A-4147-A177-3AD203B41FA5}">
                      <a16:colId xmlns:a16="http://schemas.microsoft.com/office/drawing/2014/main" val="1366772255"/>
                    </a:ext>
                  </a:extLst>
                </a:gridCol>
                <a:gridCol w="1098935">
                  <a:extLst>
                    <a:ext uri="{9D8B030D-6E8A-4147-A177-3AD203B41FA5}">
                      <a16:colId xmlns:a16="http://schemas.microsoft.com/office/drawing/2014/main" val="1060001929"/>
                    </a:ext>
                  </a:extLst>
                </a:gridCol>
                <a:gridCol w="1098935">
                  <a:extLst>
                    <a:ext uri="{9D8B030D-6E8A-4147-A177-3AD203B41FA5}">
                      <a16:colId xmlns:a16="http://schemas.microsoft.com/office/drawing/2014/main" val="3203347766"/>
                    </a:ext>
                  </a:extLst>
                </a:gridCol>
              </a:tblGrid>
              <a:tr h="222885">
                <a:tc>
                  <a:txBody>
                    <a:bodyPr/>
                    <a:lstStyle/>
                    <a:p>
                      <a:pPr>
                        <a:buNone/>
                      </a:pPr>
                      <a:r>
                        <a:rPr lang="en-US" sz="1000"/>
                        <a:t>Match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 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Team 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Winner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7812821"/>
                  </a:ext>
                </a:extLst>
              </a:tr>
              <a:tr h="222885">
                <a:tc>
                  <a:txBody>
                    <a:bodyPr/>
                    <a:lstStyle/>
                    <a:p>
                      <a:pPr>
                        <a:buNone/>
                      </a:pPr>
                      <a:r>
                        <a:rPr lang="en-US" sz="1000"/>
                        <a:t>1</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A</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A</a:t>
                      </a:r>
                      <a:r>
                        <a:rPr lang="en-US" sz="1000"/>
                        <a:t> ← upset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3455199"/>
                  </a:ext>
                </a:extLst>
              </a:tr>
              <a:tr h="222885">
                <a:tc>
                  <a:txBody>
                    <a:bodyPr/>
                    <a:lstStyle/>
                    <a:p>
                      <a:pPr>
                        <a:buNone/>
                      </a:pPr>
                      <a:r>
                        <a:rPr lang="en-US" sz="1000"/>
                        <a:t>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C</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I</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C</a:t>
                      </a:r>
                      <a:endParaRPr lang="en-US" sz="10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2134787"/>
                  </a:ext>
                </a:extLst>
              </a:tr>
              <a:tr h="222885">
                <a:tc>
                  <a:txBody>
                    <a:bodyPr/>
                    <a:lstStyle/>
                    <a:p>
                      <a:pPr>
                        <a:buNone/>
                      </a:pPr>
                      <a:r>
                        <a:rPr lang="en-US" sz="1000"/>
                        <a:t>3</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B</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B</a:t>
                      </a:r>
                      <a:r>
                        <a:rPr lang="en-US" sz="1000"/>
                        <a:t> ← upset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518125"/>
                  </a:ext>
                </a:extLst>
              </a:tr>
              <a:tr h="222885">
                <a:tc>
                  <a:txBody>
                    <a:bodyPr/>
                    <a:lstStyle/>
                    <a:p>
                      <a:pPr>
                        <a:buNone/>
                      </a:pPr>
                      <a:r>
                        <a:rPr lang="en-US" sz="1000"/>
                        <a:t>4</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D</a:t>
                      </a:r>
                      <a:endParaRPr lang="en-US" sz="10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701632"/>
                  </a:ext>
                </a:extLst>
              </a:tr>
              <a:tr h="222885">
                <a:tc>
                  <a:txBody>
                    <a:bodyPr/>
                    <a:lstStyle/>
                    <a:p>
                      <a:pPr>
                        <a:buNone/>
                      </a:pPr>
                      <a:r>
                        <a:rPr lang="en-US" sz="1000"/>
                        <a:t>5</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F</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F</a:t>
                      </a:r>
                      <a:endParaRPr lang="en-US" sz="10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839869"/>
                  </a:ext>
                </a:extLst>
              </a:tr>
              <a:tr h="222885">
                <a:tc>
                  <a:txBody>
                    <a:bodyPr/>
                    <a:lstStyle/>
                    <a:p>
                      <a:pPr>
                        <a:buNone/>
                      </a:pPr>
                      <a:r>
                        <a:rPr lang="en-US" sz="1000"/>
                        <a:t>6</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P</a:t>
                      </a:r>
                      <a:endParaRPr lang="en-US" sz="10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5151696"/>
                  </a:ext>
                </a:extLst>
              </a:tr>
              <a:tr h="222885">
                <a:tc>
                  <a:txBody>
                    <a:bodyPr/>
                    <a:lstStyle/>
                    <a:p>
                      <a:pPr>
                        <a:buNone/>
                      </a:pPr>
                      <a:r>
                        <a:rPr lang="en-US" sz="1000"/>
                        <a:t>7</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G</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J</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G</a:t>
                      </a:r>
                      <a:endParaRPr lang="en-US" sz="10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8923687"/>
                  </a:ext>
                </a:extLst>
              </a:tr>
              <a:tr h="222885">
                <a:tc>
                  <a:txBody>
                    <a:bodyPr/>
                    <a:lstStyle/>
                    <a:p>
                      <a:pPr>
                        <a:buNone/>
                      </a:pPr>
                      <a:r>
                        <a:rPr lang="en-US" sz="1000"/>
                        <a:t>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a:t>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S</a:t>
                      </a:r>
                      <a:r>
                        <a:rPr lang="en-US" sz="1000"/>
                        <a:t> ← upset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8031927"/>
                  </a:ext>
                </a:extLst>
              </a:tr>
            </a:tbl>
          </a:graphicData>
        </a:graphic>
      </p:graphicFrame>
      <p:graphicFrame>
        <p:nvGraphicFramePr>
          <p:cNvPr id="6" name="Table 5">
            <a:extLst>
              <a:ext uri="{FF2B5EF4-FFF2-40B4-BE49-F238E27FC236}">
                <a16:creationId xmlns:a16="http://schemas.microsoft.com/office/drawing/2014/main" id="{CB347E79-D4F7-15FB-139C-4616EF4FBAB0}"/>
              </a:ext>
            </a:extLst>
          </p:cNvPr>
          <p:cNvGraphicFramePr>
            <a:graphicFrameLocks noGrp="1"/>
          </p:cNvGraphicFramePr>
          <p:nvPr/>
        </p:nvGraphicFramePr>
        <p:xfrm>
          <a:off x="5640836" y="1034746"/>
          <a:ext cx="2657948" cy="3959696"/>
        </p:xfrm>
        <a:graphic>
          <a:graphicData uri="http://schemas.openxmlformats.org/drawingml/2006/table">
            <a:tbl>
              <a:tblPr/>
              <a:tblGrid>
                <a:gridCol w="664487">
                  <a:extLst>
                    <a:ext uri="{9D8B030D-6E8A-4147-A177-3AD203B41FA5}">
                      <a16:colId xmlns:a16="http://schemas.microsoft.com/office/drawing/2014/main" val="169215131"/>
                    </a:ext>
                  </a:extLst>
                </a:gridCol>
                <a:gridCol w="664487">
                  <a:extLst>
                    <a:ext uri="{9D8B030D-6E8A-4147-A177-3AD203B41FA5}">
                      <a16:colId xmlns:a16="http://schemas.microsoft.com/office/drawing/2014/main" val="1203284983"/>
                    </a:ext>
                  </a:extLst>
                </a:gridCol>
                <a:gridCol w="664487">
                  <a:extLst>
                    <a:ext uri="{9D8B030D-6E8A-4147-A177-3AD203B41FA5}">
                      <a16:colId xmlns:a16="http://schemas.microsoft.com/office/drawing/2014/main" val="358802123"/>
                    </a:ext>
                  </a:extLst>
                </a:gridCol>
                <a:gridCol w="664487">
                  <a:extLst>
                    <a:ext uri="{9D8B030D-6E8A-4147-A177-3AD203B41FA5}">
                      <a16:colId xmlns:a16="http://schemas.microsoft.com/office/drawing/2014/main" val="3805546259"/>
                    </a:ext>
                  </a:extLst>
                </a:gridCol>
              </a:tblGrid>
              <a:tr h="141497">
                <a:tc>
                  <a:txBody>
                    <a:bodyPr/>
                    <a:lstStyle/>
                    <a:p>
                      <a:pPr>
                        <a:buNone/>
                      </a:pPr>
                      <a:r>
                        <a:rPr lang="en-US" sz="800"/>
                        <a:t>Rank</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Team</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Seed</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W-L</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7961768"/>
                  </a:ext>
                </a:extLst>
              </a:tr>
              <a:tr h="141497">
                <a:tc>
                  <a:txBody>
                    <a:bodyPr/>
                    <a:lstStyle/>
                    <a:p>
                      <a:pPr>
                        <a:buNone/>
                      </a:pPr>
                      <a:r>
                        <a:rPr lang="en-US" sz="800"/>
                        <a:t>1</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b="1"/>
                        <a:t>A</a:t>
                      </a:r>
                      <a:endParaRPr lang="en-US" sz="800"/>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b="1"/>
                        <a:t>6–2</a:t>
                      </a:r>
                      <a:endParaRPr lang="en-US" sz="800"/>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4877688"/>
                  </a:ext>
                </a:extLst>
              </a:tr>
              <a:tr h="141497">
                <a:tc>
                  <a:txBody>
                    <a:bodyPr/>
                    <a:lstStyle/>
                    <a:p>
                      <a:pPr>
                        <a:buNone/>
                      </a:pPr>
                      <a:r>
                        <a:rPr lang="en-US" sz="800"/>
                        <a:t>2</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b="1"/>
                        <a:t>C</a:t>
                      </a:r>
                      <a:endParaRPr lang="en-US" sz="800"/>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b="1"/>
                        <a:t>6–2</a:t>
                      </a:r>
                      <a:endParaRPr lang="en-US" sz="800"/>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786566"/>
                  </a:ext>
                </a:extLst>
              </a:tr>
              <a:tr h="200153">
                <a:tc>
                  <a:txBody>
                    <a:bodyPr/>
                    <a:lstStyle/>
                    <a:p>
                      <a:pPr>
                        <a:buNone/>
                      </a:pPr>
                      <a:r>
                        <a:rPr lang="en-US" sz="800"/>
                        <a:t>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b="1"/>
                        <a:t>H</a:t>
                      </a:r>
                      <a:endParaRPr lang="en-US" sz="800"/>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#8</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b="1"/>
                        <a:t>6–2</a:t>
                      </a:r>
                      <a:endParaRPr lang="en-US" sz="800"/>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998234"/>
                  </a:ext>
                </a:extLst>
              </a:tr>
              <a:tr h="141497">
                <a:tc>
                  <a:txBody>
                    <a:bodyPr/>
                    <a:lstStyle/>
                    <a:p>
                      <a:pPr>
                        <a:buNone/>
                      </a:pPr>
                      <a:r>
                        <a:rPr lang="en-US" sz="800"/>
                        <a:t>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B</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1199152"/>
                  </a:ext>
                </a:extLst>
              </a:tr>
              <a:tr h="141497">
                <a:tc>
                  <a:txBody>
                    <a:bodyPr/>
                    <a:lstStyle/>
                    <a:p>
                      <a:pPr>
                        <a:buNone/>
                      </a:pPr>
                      <a:r>
                        <a:rPr lang="en-US" sz="800"/>
                        <a:t>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D</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6343059"/>
                  </a:ext>
                </a:extLst>
              </a:tr>
              <a:tr h="141497">
                <a:tc>
                  <a:txBody>
                    <a:bodyPr/>
                    <a:lstStyle/>
                    <a:p>
                      <a:pPr>
                        <a:buNone/>
                      </a:pPr>
                      <a:r>
                        <a:rPr lang="en-US" sz="800"/>
                        <a:t>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F</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348997"/>
                  </a:ext>
                </a:extLst>
              </a:tr>
              <a:tr h="141497">
                <a:tc>
                  <a:txBody>
                    <a:bodyPr/>
                    <a:lstStyle/>
                    <a:p>
                      <a:pPr>
                        <a:buNone/>
                      </a:pPr>
                      <a:r>
                        <a:rPr lang="en-US" sz="800"/>
                        <a:t>7</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I</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#9</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7939687"/>
                  </a:ext>
                </a:extLst>
              </a:tr>
              <a:tr h="215091">
                <a:tc>
                  <a:txBody>
                    <a:bodyPr/>
                    <a:lstStyle/>
                    <a:p>
                      <a:pPr>
                        <a:buNone/>
                      </a:pPr>
                      <a:r>
                        <a:rPr lang="en-US" sz="800"/>
                        <a:t>8</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O</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115415"/>
                  </a:ext>
                </a:extLst>
              </a:tr>
              <a:tr h="141497">
                <a:tc>
                  <a:txBody>
                    <a:bodyPr/>
                    <a:lstStyle/>
                    <a:p>
                      <a:pPr>
                        <a:buNone/>
                      </a:pPr>
                      <a:r>
                        <a:rPr lang="en-US" sz="800"/>
                        <a:t>9</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P</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8968001"/>
                  </a:ext>
                </a:extLst>
              </a:tr>
              <a:tr h="215091">
                <a:tc>
                  <a:txBody>
                    <a:bodyPr/>
                    <a:lstStyle/>
                    <a:p>
                      <a:pPr>
                        <a:buNone/>
                      </a:pPr>
                      <a:r>
                        <a:rPr lang="en-US" sz="800"/>
                        <a:t>10</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E</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5120058"/>
                  </a:ext>
                </a:extLst>
              </a:tr>
              <a:tr h="141497">
                <a:tc>
                  <a:txBody>
                    <a:bodyPr/>
                    <a:lstStyle/>
                    <a:p>
                      <a:pPr>
                        <a:buNone/>
                      </a:pPr>
                      <a:r>
                        <a:rPr lang="en-US" sz="800"/>
                        <a:t>11</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G</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#7</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9901499"/>
                  </a:ext>
                </a:extLst>
              </a:tr>
              <a:tr h="141497">
                <a:tc>
                  <a:txBody>
                    <a:bodyPr/>
                    <a:lstStyle/>
                    <a:p>
                      <a:pPr>
                        <a:buNone/>
                      </a:pPr>
                      <a:r>
                        <a:rPr lang="en-US" sz="800"/>
                        <a:t>12</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K</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#11</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1507790"/>
                  </a:ext>
                </a:extLst>
              </a:tr>
              <a:tr h="215091">
                <a:tc>
                  <a:txBody>
                    <a:bodyPr/>
                    <a:lstStyle/>
                    <a:p>
                      <a:pPr>
                        <a:buNone/>
                      </a:pPr>
                      <a:r>
                        <a:rPr lang="en-US" sz="800"/>
                        <a:t>13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R</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#18</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222964"/>
                  </a:ext>
                </a:extLst>
              </a:tr>
              <a:tr h="141497">
                <a:tc>
                  <a:txBody>
                    <a:bodyPr/>
                    <a:lstStyle/>
                    <a:p>
                      <a:pPr>
                        <a:buNone/>
                      </a:pPr>
                      <a:r>
                        <a:rPr lang="en-US" sz="800"/>
                        <a:t>14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S</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#19</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6685469"/>
                  </a:ext>
                </a:extLst>
              </a:tr>
              <a:tr h="141497">
                <a:tc>
                  <a:txBody>
                    <a:bodyPr/>
                    <a:lstStyle/>
                    <a:p>
                      <a:pPr>
                        <a:buNone/>
                      </a:pPr>
                      <a:r>
                        <a:rPr lang="en-US" sz="800"/>
                        <a:t>15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V</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#22</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4–4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1731761"/>
                  </a:ext>
                </a:extLst>
              </a:tr>
              <a:tr h="141497">
                <a:tc>
                  <a:txBody>
                    <a:bodyPr/>
                    <a:lstStyle/>
                    <a:p>
                      <a:pPr>
                        <a:buNone/>
                      </a:pPr>
                      <a:r>
                        <a:rPr lang="en-US" sz="800"/>
                        <a:t>16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J</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#10</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3–5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6567477"/>
                  </a:ext>
                </a:extLst>
              </a:tr>
              <a:tr h="141497">
                <a:tc>
                  <a:txBody>
                    <a:bodyPr/>
                    <a:lstStyle/>
                    <a:p>
                      <a:pPr>
                        <a:buNone/>
                      </a:pPr>
                      <a:r>
                        <a:rPr lang="en-US" sz="800"/>
                        <a:t>17</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L</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#12</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3–5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3538347"/>
                  </a:ext>
                </a:extLst>
              </a:tr>
              <a:tr h="141497">
                <a:tc>
                  <a:txBody>
                    <a:bodyPr/>
                    <a:lstStyle/>
                    <a:p>
                      <a:pPr>
                        <a:buNone/>
                      </a:pPr>
                      <a:r>
                        <a:rPr lang="en-US" sz="800"/>
                        <a:t>18</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N</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#14</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3–5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666101"/>
                  </a:ext>
                </a:extLst>
              </a:tr>
              <a:tr h="141497">
                <a:tc>
                  <a:txBody>
                    <a:bodyPr/>
                    <a:lstStyle/>
                    <a:p>
                      <a:pPr>
                        <a:buNone/>
                      </a:pPr>
                      <a:r>
                        <a:rPr lang="en-US" sz="800"/>
                        <a:t>19</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T</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#20</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3–5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8944817"/>
                  </a:ext>
                </a:extLst>
              </a:tr>
              <a:tr h="215091">
                <a:tc>
                  <a:txBody>
                    <a:bodyPr/>
                    <a:lstStyle/>
                    <a:p>
                      <a:pPr>
                        <a:buNone/>
                      </a:pPr>
                      <a:r>
                        <a:rPr lang="en-US" sz="800"/>
                        <a:t>20</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W</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3–5</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1559816"/>
                  </a:ext>
                </a:extLst>
              </a:tr>
              <a:tr h="141497">
                <a:tc>
                  <a:txBody>
                    <a:bodyPr/>
                    <a:lstStyle/>
                    <a:p>
                      <a:pPr>
                        <a:buNone/>
                      </a:pPr>
                      <a:r>
                        <a:rPr lang="en-US" sz="800"/>
                        <a:t>21</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Q</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#17</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051470"/>
                  </a:ext>
                </a:extLst>
              </a:tr>
              <a:tr h="141497">
                <a:tc>
                  <a:txBody>
                    <a:bodyPr/>
                    <a:lstStyle/>
                    <a:p>
                      <a:pPr>
                        <a:buNone/>
                      </a:pPr>
                      <a:r>
                        <a:rPr lang="en-US" sz="800"/>
                        <a:t>22</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U</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#21</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7518075"/>
                  </a:ext>
                </a:extLst>
              </a:tr>
              <a:tr h="215091">
                <a:tc>
                  <a:txBody>
                    <a:bodyPr/>
                    <a:lstStyle/>
                    <a:p>
                      <a:pPr>
                        <a:buNone/>
                      </a:pPr>
                      <a:r>
                        <a:rPr lang="en-US" sz="800"/>
                        <a:t>23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M</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#13</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800"/>
                        <a:t>2-6</a:t>
                      </a:r>
                    </a:p>
                  </a:txBody>
                  <a:tcPr marL="27196" marR="27196" marT="13598" marB="135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207028"/>
                  </a:ext>
                </a:extLst>
              </a:tr>
            </a:tbl>
          </a:graphicData>
        </a:graphic>
      </p:graphicFrame>
      <p:sp>
        <p:nvSpPr>
          <p:cNvPr id="9" name="TextBox 8">
            <a:extLst>
              <a:ext uri="{FF2B5EF4-FFF2-40B4-BE49-F238E27FC236}">
                <a16:creationId xmlns:a16="http://schemas.microsoft.com/office/drawing/2014/main" id="{929909EE-7237-94E0-7F2C-D6814C78364D}"/>
              </a:ext>
            </a:extLst>
          </p:cNvPr>
          <p:cNvSpPr txBox="1"/>
          <p:nvPr/>
        </p:nvSpPr>
        <p:spPr>
          <a:xfrm>
            <a:off x="6331123" y="669484"/>
            <a:ext cx="1395318" cy="300082"/>
          </a:xfrm>
          <a:prstGeom prst="rect">
            <a:avLst/>
          </a:prstGeom>
          <a:noFill/>
        </p:spPr>
        <p:txBody>
          <a:bodyPr wrap="none" rtlCol="0">
            <a:spAutoFit/>
          </a:bodyPr>
          <a:lstStyle/>
          <a:p>
            <a:pPr defTabSz="685800"/>
            <a:r>
              <a:rPr lang="en-US" sz="1350" b="1">
                <a:solidFill>
                  <a:prstClr val="black"/>
                </a:solidFill>
                <a:latin typeface="Aptos" panose="02110004020202020204"/>
              </a:rPr>
              <a:t>Final Standings</a:t>
            </a:r>
          </a:p>
        </p:txBody>
      </p:sp>
      <p:sp>
        <p:nvSpPr>
          <p:cNvPr id="11" name="Date Placeholder 10">
            <a:extLst>
              <a:ext uri="{FF2B5EF4-FFF2-40B4-BE49-F238E27FC236}">
                <a16:creationId xmlns:a16="http://schemas.microsoft.com/office/drawing/2014/main" id="{E26E16BA-5EFD-ED83-C0AC-ECB03C45AB65}"/>
              </a:ext>
            </a:extLst>
          </p:cNvPr>
          <p:cNvSpPr>
            <a:spLocks noGrp="1"/>
          </p:cNvSpPr>
          <p:nvPr>
            <p:ph type="dt" sz="half" idx="10"/>
          </p:nvPr>
        </p:nvSpPr>
        <p:spPr/>
        <p:txBody>
          <a:bodyPr/>
          <a:lstStyle/>
          <a:p>
            <a:pPr defTabSz="685800"/>
            <a:fld id="{62596CA8-6367-9043-935A-45B2EC344E8E}"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12" name="Footer Placeholder 11">
            <a:extLst>
              <a:ext uri="{FF2B5EF4-FFF2-40B4-BE49-F238E27FC236}">
                <a16:creationId xmlns:a16="http://schemas.microsoft.com/office/drawing/2014/main" id="{28A6B296-F756-86F3-B4A0-4AA50471B550}"/>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13" name="Slide Number Placeholder 12">
            <a:extLst>
              <a:ext uri="{FF2B5EF4-FFF2-40B4-BE49-F238E27FC236}">
                <a16:creationId xmlns:a16="http://schemas.microsoft.com/office/drawing/2014/main" id="{9DD14D0E-6681-A81A-A2C8-91FA83CE3BAD}"/>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26</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2728460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488B8-9C11-685F-3CA5-397F8B0EBA87}"/>
              </a:ext>
            </a:extLst>
          </p:cNvPr>
          <p:cNvSpPr>
            <a:spLocks noGrp="1"/>
          </p:cNvSpPr>
          <p:nvPr>
            <p:ph type="title"/>
          </p:nvPr>
        </p:nvSpPr>
        <p:spPr>
          <a:xfrm>
            <a:off x="628650" y="173797"/>
            <a:ext cx="7886700" cy="336800"/>
          </a:xfrm>
        </p:spPr>
        <p:txBody>
          <a:bodyPr>
            <a:normAutofit fontScale="90000"/>
          </a:bodyPr>
          <a:lstStyle/>
          <a:p>
            <a:pPr algn="ctr"/>
            <a:r>
              <a:rPr lang="en-US">
                <a:ln w="0"/>
                <a:effectLst>
                  <a:outerShdw blurRad="38100" dist="19050" dir="2700000" algn="tl" rotWithShape="0">
                    <a:schemeClr val="dk1">
                      <a:alpha val="40000"/>
                    </a:schemeClr>
                  </a:outerShdw>
                </a:effectLst>
              </a:rPr>
              <a:t>Change in Seeding across Tournament</a:t>
            </a:r>
          </a:p>
        </p:txBody>
      </p:sp>
      <p:graphicFrame>
        <p:nvGraphicFramePr>
          <p:cNvPr id="4" name="Table 3">
            <a:extLst>
              <a:ext uri="{FF2B5EF4-FFF2-40B4-BE49-F238E27FC236}">
                <a16:creationId xmlns:a16="http://schemas.microsoft.com/office/drawing/2014/main" id="{A53A366D-E3D8-1744-B895-FBD8A8945EAF}"/>
              </a:ext>
            </a:extLst>
          </p:cNvPr>
          <p:cNvGraphicFramePr>
            <a:graphicFrameLocks noGrp="1"/>
          </p:cNvGraphicFramePr>
          <p:nvPr/>
        </p:nvGraphicFramePr>
        <p:xfrm>
          <a:off x="434140" y="610644"/>
          <a:ext cx="5146206" cy="4359072"/>
        </p:xfrm>
        <a:graphic>
          <a:graphicData uri="http://schemas.openxmlformats.org/drawingml/2006/table">
            <a:tbl>
              <a:tblPr/>
              <a:tblGrid>
                <a:gridCol w="680084">
                  <a:extLst>
                    <a:ext uri="{9D8B030D-6E8A-4147-A177-3AD203B41FA5}">
                      <a16:colId xmlns:a16="http://schemas.microsoft.com/office/drawing/2014/main" val="1863185231"/>
                    </a:ext>
                  </a:extLst>
                </a:gridCol>
                <a:gridCol w="1139915">
                  <a:extLst>
                    <a:ext uri="{9D8B030D-6E8A-4147-A177-3AD203B41FA5}">
                      <a16:colId xmlns:a16="http://schemas.microsoft.com/office/drawing/2014/main" val="2986789101"/>
                    </a:ext>
                  </a:extLst>
                </a:gridCol>
                <a:gridCol w="909999">
                  <a:extLst>
                    <a:ext uri="{9D8B030D-6E8A-4147-A177-3AD203B41FA5}">
                      <a16:colId xmlns:a16="http://schemas.microsoft.com/office/drawing/2014/main" val="1792668867"/>
                    </a:ext>
                  </a:extLst>
                </a:gridCol>
                <a:gridCol w="2416208">
                  <a:extLst>
                    <a:ext uri="{9D8B030D-6E8A-4147-A177-3AD203B41FA5}">
                      <a16:colId xmlns:a16="http://schemas.microsoft.com/office/drawing/2014/main" val="3363910424"/>
                    </a:ext>
                  </a:extLst>
                </a:gridCol>
              </a:tblGrid>
              <a:tr h="181628">
                <a:tc>
                  <a:txBody>
                    <a:bodyPr/>
                    <a:lstStyle/>
                    <a:p>
                      <a:pPr algn="ctr" rtl="0" fontAlgn="ctr">
                        <a:buNone/>
                      </a:pPr>
                      <a:r>
                        <a:rPr lang="en-US" sz="1100" b="1" i="0" u="none" strike="noStrike">
                          <a:solidFill>
                            <a:srgbClr val="000000"/>
                          </a:solidFill>
                          <a:effectLst/>
                          <a:latin typeface="Aptos" panose="020B0004020202020204" pitchFamily="34" charset="0"/>
                        </a:rPr>
                        <a:t>Team</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1100" b="1" i="0" u="none" strike="noStrike">
                          <a:solidFill>
                            <a:srgbClr val="000000"/>
                          </a:solidFill>
                          <a:effectLst/>
                          <a:latin typeface="Aptos" panose="020B0004020202020204" pitchFamily="34" charset="0"/>
                        </a:rPr>
                        <a:t>Final Rank</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1" i="0" u="none" strike="noStrike">
                          <a:solidFill>
                            <a:srgbClr val="000000"/>
                          </a:solidFill>
                          <a:effectLst/>
                          <a:latin typeface="Aptos Narrow" panose="020B0004020202020204" pitchFamily="34" charset="0"/>
                        </a:rPr>
                        <a:t>Initial Seed # </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100" b="1" i="0" u="none" strike="noStrike">
                          <a:solidFill>
                            <a:srgbClr val="000000"/>
                          </a:solidFill>
                          <a:effectLst/>
                          <a:latin typeface="Aptos Narrow" panose="020B0004020202020204" pitchFamily="34" charset="0"/>
                        </a:rPr>
                        <a:t>Change in rank through Tournament</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30803309"/>
                  </a:ext>
                </a:extLst>
              </a:tr>
              <a:tr h="181628">
                <a:tc>
                  <a:txBody>
                    <a:bodyPr/>
                    <a:lstStyle/>
                    <a:p>
                      <a:pPr algn="ctr" rtl="0" fontAlgn="ctr">
                        <a:buNone/>
                      </a:pPr>
                      <a:r>
                        <a:rPr lang="en-US" sz="1100" b="1" i="0" u="none" strike="noStrike">
                          <a:solidFill>
                            <a:srgbClr val="000000"/>
                          </a:solidFill>
                          <a:effectLst/>
                          <a:latin typeface="Aptos" panose="020B0004020202020204" pitchFamily="34" charset="0"/>
                        </a:rPr>
                        <a:t>A</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0</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1765101153"/>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B</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4</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DEE1"/>
                    </a:solidFill>
                  </a:tcPr>
                </a:tc>
                <a:extLst>
                  <a:ext uri="{0D108BD9-81ED-4DB2-BD59-A6C34878D82A}">
                    <a16:rowId xmlns:a16="http://schemas.microsoft.com/office/drawing/2014/main" val="1258043656"/>
                  </a:ext>
                </a:extLst>
              </a:tr>
              <a:tr h="181628">
                <a:tc>
                  <a:txBody>
                    <a:bodyPr/>
                    <a:lstStyle/>
                    <a:p>
                      <a:pPr algn="ctr" rtl="0" fontAlgn="ctr">
                        <a:buNone/>
                      </a:pPr>
                      <a:r>
                        <a:rPr lang="en-US" sz="1100" b="1" i="0" u="none" strike="noStrike">
                          <a:solidFill>
                            <a:srgbClr val="000000"/>
                          </a:solidFill>
                          <a:effectLst/>
                          <a:latin typeface="Aptos" panose="020B0004020202020204" pitchFamily="34" charset="0"/>
                        </a:rPr>
                        <a:t>C</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2</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3</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F4ED"/>
                    </a:solidFill>
                  </a:tcPr>
                </a:tc>
                <a:extLst>
                  <a:ext uri="{0D108BD9-81ED-4DB2-BD59-A6C34878D82A}">
                    <a16:rowId xmlns:a16="http://schemas.microsoft.com/office/drawing/2014/main" val="2783339659"/>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D</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5</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4</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DF0"/>
                    </a:solidFill>
                  </a:tcPr>
                </a:tc>
                <a:extLst>
                  <a:ext uri="{0D108BD9-81ED-4DB2-BD59-A6C34878D82A}">
                    <a16:rowId xmlns:a16="http://schemas.microsoft.com/office/drawing/2014/main" val="2588147080"/>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E</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10</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5</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-5</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2B5"/>
                    </a:solidFill>
                  </a:tcPr>
                </a:tc>
                <a:extLst>
                  <a:ext uri="{0D108BD9-81ED-4DB2-BD59-A6C34878D82A}">
                    <a16:rowId xmlns:a16="http://schemas.microsoft.com/office/drawing/2014/main" val="3351224901"/>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F</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6</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6</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0</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2836139315"/>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G</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11</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7</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-4</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1C3"/>
                    </a:solidFill>
                  </a:tcPr>
                </a:tc>
                <a:extLst>
                  <a:ext uri="{0D108BD9-81ED-4DB2-BD59-A6C34878D82A}">
                    <a16:rowId xmlns:a16="http://schemas.microsoft.com/office/drawing/2014/main" val="1363206753"/>
                  </a:ext>
                </a:extLst>
              </a:tr>
              <a:tr h="181628">
                <a:tc>
                  <a:txBody>
                    <a:bodyPr/>
                    <a:lstStyle/>
                    <a:p>
                      <a:pPr algn="ctr" rtl="0" fontAlgn="ctr">
                        <a:buNone/>
                      </a:pPr>
                      <a:r>
                        <a:rPr lang="en-US" sz="1100" b="1" i="0" u="none" strike="noStrike">
                          <a:solidFill>
                            <a:srgbClr val="000000"/>
                          </a:solidFill>
                          <a:effectLst/>
                          <a:latin typeface="Aptos" panose="020B0004020202020204" pitchFamily="34" charset="0"/>
                        </a:rPr>
                        <a:t>H</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3</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8</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5</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D0A1"/>
                    </a:solidFill>
                  </a:tcPr>
                </a:tc>
                <a:extLst>
                  <a:ext uri="{0D108BD9-81ED-4DB2-BD59-A6C34878D82A}">
                    <a16:rowId xmlns:a16="http://schemas.microsoft.com/office/drawing/2014/main" val="882345604"/>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I</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7</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9</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EBDA"/>
                    </a:solidFill>
                  </a:tcPr>
                </a:tc>
                <a:extLst>
                  <a:ext uri="{0D108BD9-81ED-4DB2-BD59-A6C34878D82A}">
                    <a16:rowId xmlns:a16="http://schemas.microsoft.com/office/drawing/2014/main" val="1402763627"/>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J</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16</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10</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-6</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A3A6"/>
                    </a:solidFill>
                  </a:tcPr>
                </a:tc>
                <a:extLst>
                  <a:ext uri="{0D108BD9-81ED-4DB2-BD59-A6C34878D82A}">
                    <a16:rowId xmlns:a16="http://schemas.microsoft.com/office/drawing/2014/main" val="1279142610"/>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K</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12</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11</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DF0"/>
                    </a:solidFill>
                  </a:tcPr>
                </a:tc>
                <a:extLst>
                  <a:ext uri="{0D108BD9-81ED-4DB2-BD59-A6C34878D82A}">
                    <a16:rowId xmlns:a16="http://schemas.microsoft.com/office/drawing/2014/main" val="575938681"/>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L</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17</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12</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-5</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B2B5"/>
                    </a:solidFill>
                  </a:tcPr>
                </a:tc>
                <a:extLst>
                  <a:ext uri="{0D108BD9-81ED-4DB2-BD59-A6C34878D82A}">
                    <a16:rowId xmlns:a16="http://schemas.microsoft.com/office/drawing/2014/main" val="158074395"/>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M</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23</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13</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-10</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3490321661"/>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N</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18</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14</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-4</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1C3"/>
                    </a:solidFill>
                  </a:tcPr>
                </a:tc>
                <a:extLst>
                  <a:ext uri="{0D108BD9-81ED-4DB2-BD59-A6C34878D82A}">
                    <a16:rowId xmlns:a16="http://schemas.microsoft.com/office/drawing/2014/main" val="1158878738"/>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O</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8</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15</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7</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3076760829"/>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P</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9</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16</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7</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889693136"/>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Q</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21</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17</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-4</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1C3"/>
                    </a:solidFill>
                  </a:tcPr>
                </a:tc>
                <a:extLst>
                  <a:ext uri="{0D108BD9-81ED-4DB2-BD59-A6C34878D82A}">
                    <a16:rowId xmlns:a16="http://schemas.microsoft.com/office/drawing/2014/main" val="3999678723"/>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R</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13</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18</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5</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D0A1"/>
                    </a:solidFill>
                  </a:tcPr>
                </a:tc>
                <a:extLst>
                  <a:ext uri="{0D108BD9-81ED-4DB2-BD59-A6C34878D82A}">
                    <a16:rowId xmlns:a16="http://schemas.microsoft.com/office/drawing/2014/main" val="3892590278"/>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S</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14</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19</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5</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D0A1"/>
                    </a:solidFill>
                  </a:tcPr>
                </a:tc>
                <a:extLst>
                  <a:ext uri="{0D108BD9-81ED-4DB2-BD59-A6C34878D82A}">
                    <a16:rowId xmlns:a16="http://schemas.microsoft.com/office/drawing/2014/main" val="751690175"/>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T</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19</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20</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F4ED"/>
                    </a:solidFill>
                  </a:tcPr>
                </a:tc>
                <a:extLst>
                  <a:ext uri="{0D108BD9-81ED-4DB2-BD59-A6C34878D82A}">
                    <a16:rowId xmlns:a16="http://schemas.microsoft.com/office/drawing/2014/main" val="3454682499"/>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U</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22</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21</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DF0"/>
                    </a:solidFill>
                  </a:tcPr>
                </a:tc>
                <a:extLst>
                  <a:ext uri="{0D108BD9-81ED-4DB2-BD59-A6C34878D82A}">
                    <a16:rowId xmlns:a16="http://schemas.microsoft.com/office/drawing/2014/main" val="1171707241"/>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V</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15</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22</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7</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243232204"/>
                  </a:ext>
                </a:extLst>
              </a:tr>
              <a:tr h="181628">
                <a:tc>
                  <a:txBody>
                    <a:bodyPr/>
                    <a:lstStyle/>
                    <a:p>
                      <a:pPr algn="ctr" rtl="0" fontAlgn="ctr">
                        <a:buNone/>
                      </a:pPr>
                      <a:r>
                        <a:rPr lang="en-US" sz="1100" b="0" i="0" u="none" strike="noStrike">
                          <a:solidFill>
                            <a:srgbClr val="000000"/>
                          </a:solidFill>
                          <a:effectLst/>
                          <a:latin typeface="Aptos" panose="020B0004020202020204" pitchFamily="34" charset="0"/>
                        </a:rPr>
                        <a:t>W</a:t>
                      </a:r>
                    </a:p>
                  </a:txBody>
                  <a:tcPr marL="6374" marR="6374" marT="637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Aptos" panose="020B0004020202020204" pitchFamily="34" charset="0"/>
                        </a:rPr>
                        <a:t>20</a:t>
                      </a:r>
                    </a:p>
                  </a:txBody>
                  <a:tcPr marL="6374" marR="6374" marT="63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23</a:t>
                      </a:r>
                    </a:p>
                  </a:txBody>
                  <a:tcPr marL="6374" marR="6374" marT="6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3</a:t>
                      </a:r>
                    </a:p>
                  </a:txBody>
                  <a:tcPr marL="6374" marR="6374" marT="637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2C7"/>
                    </a:solidFill>
                  </a:tcPr>
                </a:tc>
                <a:extLst>
                  <a:ext uri="{0D108BD9-81ED-4DB2-BD59-A6C34878D82A}">
                    <a16:rowId xmlns:a16="http://schemas.microsoft.com/office/drawing/2014/main" val="431257311"/>
                  </a:ext>
                </a:extLst>
              </a:tr>
            </a:tbl>
          </a:graphicData>
        </a:graphic>
      </p:graphicFrame>
      <p:sp>
        <p:nvSpPr>
          <p:cNvPr id="10" name="Left Arrow 9">
            <a:extLst>
              <a:ext uri="{FF2B5EF4-FFF2-40B4-BE49-F238E27FC236}">
                <a16:creationId xmlns:a16="http://schemas.microsoft.com/office/drawing/2014/main" id="{F0E97B99-A428-09DF-1881-DCA209021F12}"/>
              </a:ext>
            </a:extLst>
          </p:cNvPr>
          <p:cNvSpPr/>
          <p:nvPr/>
        </p:nvSpPr>
        <p:spPr>
          <a:xfrm>
            <a:off x="5721263" y="2959274"/>
            <a:ext cx="657617" cy="206679"/>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1" name="Left Arrow 10">
            <a:extLst>
              <a:ext uri="{FF2B5EF4-FFF2-40B4-BE49-F238E27FC236}">
                <a16:creationId xmlns:a16="http://schemas.microsoft.com/office/drawing/2014/main" id="{CEB29E08-E19F-2288-76DB-5251640849F5}"/>
              </a:ext>
            </a:extLst>
          </p:cNvPr>
          <p:cNvSpPr/>
          <p:nvPr/>
        </p:nvSpPr>
        <p:spPr>
          <a:xfrm>
            <a:off x="5721263" y="3355410"/>
            <a:ext cx="657617" cy="206679"/>
          </a:xfrm>
          <a:prstGeom prst="lef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2" name="Left Arrow 11">
            <a:extLst>
              <a:ext uri="{FF2B5EF4-FFF2-40B4-BE49-F238E27FC236}">
                <a16:creationId xmlns:a16="http://schemas.microsoft.com/office/drawing/2014/main" id="{3381CEB7-E3C7-A62C-FBBB-BADB18D7D764}"/>
              </a:ext>
            </a:extLst>
          </p:cNvPr>
          <p:cNvSpPr/>
          <p:nvPr/>
        </p:nvSpPr>
        <p:spPr>
          <a:xfrm>
            <a:off x="5721263" y="3562089"/>
            <a:ext cx="657617" cy="206679"/>
          </a:xfrm>
          <a:prstGeom prst="lef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3" name="Left Arrow 12">
            <a:extLst>
              <a:ext uri="{FF2B5EF4-FFF2-40B4-BE49-F238E27FC236}">
                <a16:creationId xmlns:a16="http://schemas.microsoft.com/office/drawing/2014/main" id="{02CE7032-E73C-57EC-00C8-2A8890C762B7}"/>
              </a:ext>
            </a:extLst>
          </p:cNvPr>
          <p:cNvSpPr/>
          <p:nvPr/>
        </p:nvSpPr>
        <p:spPr>
          <a:xfrm>
            <a:off x="5721263" y="4626802"/>
            <a:ext cx="657617" cy="206679"/>
          </a:xfrm>
          <a:prstGeom prst="lef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4" name="Left Arrow 13">
            <a:extLst>
              <a:ext uri="{FF2B5EF4-FFF2-40B4-BE49-F238E27FC236}">
                <a16:creationId xmlns:a16="http://schemas.microsoft.com/office/drawing/2014/main" id="{082C767A-2D2B-A38A-79F9-8674E6DB4447}"/>
              </a:ext>
            </a:extLst>
          </p:cNvPr>
          <p:cNvSpPr/>
          <p:nvPr/>
        </p:nvSpPr>
        <p:spPr>
          <a:xfrm>
            <a:off x="5721263" y="2426918"/>
            <a:ext cx="657617" cy="206679"/>
          </a:xfrm>
          <a:prstGeom prst="leftArrow">
            <a:avLst/>
          </a:prstGeom>
          <a:solidFill>
            <a:srgbClr val="E88B82"/>
          </a:solidFill>
          <a:ln>
            <a:solidFill>
              <a:srgbClr val="E88B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7" name="Left Arrow 16">
            <a:extLst>
              <a:ext uri="{FF2B5EF4-FFF2-40B4-BE49-F238E27FC236}">
                <a16:creationId xmlns:a16="http://schemas.microsoft.com/office/drawing/2014/main" id="{BB470609-09BB-E8F1-3C36-937BC4401CF2}"/>
              </a:ext>
            </a:extLst>
          </p:cNvPr>
          <p:cNvSpPr/>
          <p:nvPr/>
        </p:nvSpPr>
        <p:spPr>
          <a:xfrm>
            <a:off x="5721263" y="2060612"/>
            <a:ext cx="657617" cy="206679"/>
          </a:xfrm>
          <a:prstGeom prst="leftArrow">
            <a:avLst/>
          </a:prstGeom>
          <a:solidFill>
            <a:srgbClr val="83D3A9"/>
          </a:solidFill>
          <a:ln>
            <a:solidFill>
              <a:srgbClr val="83D3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8" name="Left Arrow 17">
            <a:extLst>
              <a:ext uri="{FF2B5EF4-FFF2-40B4-BE49-F238E27FC236}">
                <a16:creationId xmlns:a16="http://schemas.microsoft.com/office/drawing/2014/main" id="{8D892BCC-62E6-F858-9A4F-5266FC89E4D2}"/>
              </a:ext>
            </a:extLst>
          </p:cNvPr>
          <p:cNvSpPr/>
          <p:nvPr/>
        </p:nvSpPr>
        <p:spPr>
          <a:xfrm>
            <a:off x="5721263" y="1521993"/>
            <a:ext cx="657617" cy="206679"/>
          </a:xfrm>
          <a:prstGeom prst="leftArrow">
            <a:avLst/>
          </a:prstGeom>
          <a:solidFill>
            <a:srgbClr val="E88B82"/>
          </a:solidFill>
          <a:ln>
            <a:solidFill>
              <a:srgbClr val="E88B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ptos" panose="02110004020202020204"/>
            </a:endParaRPr>
          </a:p>
        </p:txBody>
      </p:sp>
      <p:sp>
        <p:nvSpPr>
          <p:cNvPr id="19" name="TextBox 18">
            <a:extLst>
              <a:ext uri="{FF2B5EF4-FFF2-40B4-BE49-F238E27FC236}">
                <a16:creationId xmlns:a16="http://schemas.microsoft.com/office/drawing/2014/main" id="{FB37DDD5-52AB-82F5-8F8F-3B88E08C0033}"/>
              </a:ext>
            </a:extLst>
          </p:cNvPr>
          <p:cNvSpPr txBox="1"/>
          <p:nvPr/>
        </p:nvSpPr>
        <p:spPr>
          <a:xfrm>
            <a:off x="6698294" y="1662399"/>
            <a:ext cx="2264079" cy="1338828"/>
          </a:xfrm>
          <a:prstGeom prst="rect">
            <a:avLst/>
          </a:prstGeom>
          <a:noFill/>
          <a:ln>
            <a:solidFill>
              <a:schemeClr val="tx1">
                <a:lumMod val="50000"/>
                <a:lumOff val="50000"/>
              </a:schemeClr>
            </a:solidFill>
          </a:ln>
        </p:spPr>
        <p:txBody>
          <a:bodyPr wrap="square" rtlCol="0">
            <a:spAutoFit/>
          </a:bodyPr>
          <a:lstStyle/>
          <a:p>
            <a:pPr defTabSz="685800"/>
            <a:r>
              <a:rPr lang="en-US" sz="1350" b="1">
                <a:ln w="0"/>
                <a:solidFill>
                  <a:prstClr val="black"/>
                </a:solidFill>
                <a:effectLst>
                  <a:outerShdw blurRad="38100" dist="19050" dir="2700000" algn="tl" rotWithShape="0">
                    <a:prstClr val="black">
                      <a:alpha val="40000"/>
                    </a:prstClr>
                  </a:outerShdw>
                </a:effectLst>
                <a:latin typeface="Aptos" panose="02110004020202020204"/>
              </a:rPr>
              <a:t>Good Performances can enable teams to climb up, and weak performances can result in teams dropping down, the Seed Rank order</a:t>
            </a:r>
          </a:p>
        </p:txBody>
      </p:sp>
      <p:sp>
        <p:nvSpPr>
          <p:cNvPr id="20" name="Date Placeholder 19">
            <a:extLst>
              <a:ext uri="{FF2B5EF4-FFF2-40B4-BE49-F238E27FC236}">
                <a16:creationId xmlns:a16="http://schemas.microsoft.com/office/drawing/2014/main" id="{241F2307-BC31-AC36-91A2-8F6B5A2B71DF}"/>
              </a:ext>
            </a:extLst>
          </p:cNvPr>
          <p:cNvSpPr>
            <a:spLocks noGrp="1"/>
          </p:cNvSpPr>
          <p:nvPr>
            <p:ph type="dt" sz="half" idx="10"/>
          </p:nvPr>
        </p:nvSpPr>
        <p:spPr/>
        <p:txBody>
          <a:bodyPr/>
          <a:lstStyle/>
          <a:p>
            <a:pPr defTabSz="685800"/>
            <a:fld id="{D62FF226-926E-504F-9EB7-97BDA720EE1D}"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21" name="Footer Placeholder 20">
            <a:extLst>
              <a:ext uri="{FF2B5EF4-FFF2-40B4-BE49-F238E27FC236}">
                <a16:creationId xmlns:a16="http://schemas.microsoft.com/office/drawing/2014/main" id="{4298B285-CC46-9636-35E9-947EC2BE4239}"/>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22" name="Slide Number Placeholder 21">
            <a:extLst>
              <a:ext uri="{FF2B5EF4-FFF2-40B4-BE49-F238E27FC236}">
                <a16:creationId xmlns:a16="http://schemas.microsoft.com/office/drawing/2014/main" id="{897F126F-1073-86DD-D2F7-146C05927C2D}"/>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27</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2379618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E0151-76EC-A328-7BB1-58C893C553F3}"/>
              </a:ext>
            </a:extLst>
          </p:cNvPr>
          <p:cNvSpPr>
            <a:spLocks noGrp="1"/>
          </p:cNvSpPr>
          <p:nvPr>
            <p:ph type="title"/>
          </p:nvPr>
        </p:nvSpPr>
        <p:spPr>
          <a:xfrm>
            <a:off x="628650" y="161109"/>
            <a:ext cx="7886700" cy="383773"/>
          </a:xfrm>
        </p:spPr>
        <p:txBody>
          <a:bodyPr>
            <a:normAutofit fontScale="90000"/>
          </a:bodyPr>
          <a:lstStyle/>
          <a:p>
            <a:pPr algn="ctr"/>
            <a:r>
              <a:rPr lang="en-US"/>
              <a:t>Notes / Caveats</a:t>
            </a:r>
          </a:p>
        </p:txBody>
      </p:sp>
      <p:sp>
        <p:nvSpPr>
          <p:cNvPr id="3" name="Content Placeholder 2">
            <a:extLst>
              <a:ext uri="{FF2B5EF4-FFF2-40B4-BE49-F238E27FC236}">
                <a16:creationId xmlns:a16="http://schemas.microsoft.com/office/drawing/2014/main" id="{7DE0CDBD-CEC6-0564-62BA-76E8656DA752}"/>
              </a:ext>
            </a:extLst>
          </p:cNvPr>
          <p:cNvSpPr>
            <a:spLocks noGrp="1"/>
          </p:cNvSpPr>
          <p:nvPr>
            <p:ph idx="1"/>
          </p:nvPr>
        </p:nvSpPr>
        <p:spPr>
          <a:xfrm>
            <a:off x="440760" y="786758"/>
            <a:ext cx="7886700" cy="4195633"/>
          </a:xfrm>
        </p:spPr>
        <p:txBody>
          <a:bodyPr>
            <a:normAutofit fontScale="92500"/>
          </a:bodyPr>
          <a:lstStyle/>
          <a:p>
            <a:r>
              <a:rPr lang="en-US"/>
              <a:t>While not considered in the Virtual Tournament, the Ranking Order in the Tournament Table can follow the customary points system used in previous T20 OCL Tournaments, with Average Points (total Points per completed match) being initial criterion and Net Run Rate being the tie breaking criterion for teams with identical Avg points</a:t>
            </a:r>
          </a:p>
          <a:p>
            <a:r>
              <a:rPr lang="en-US"/>
              <a:t>AS mentioned earlier, it’s best for the scheduling to incorporate 12 matches per round which should be in a single weekend to avoid overlap with 30-30 League. This may be challenging, but with two new grounds potentially added to the OCL inventory, the challenge could be overcome </a:t>
            </a:r>
          </a:p>
          <a:p>
            <a:r>
              <a:rPr lang="en-US"/>
              <a:t>Due to odd number of teams, 8 teams will need to play two matches in a weekend once during the tournament. This could also be </a:t>
            </a:r>
            <a:r>
              <a:rPr lang="en-US" u="sng"/>
              <a:t>obviated</a:t>
            </a:r>
            <a:r>
              <a:rPr lang="en-US"/>
              <a:t> but would </a:t>
            </a:r>
            <a:r>
              <a:rPr lang="en-US" u="sng"/>
              <a:t>require 4 matches to be played during the last round </a:t>
            </a:r>
            <a:r>
              <a:rPr lang="en-US"/>
              <a:t>and hence the ranking of teams in the earlier rounds will not entail each team playing the same number of matches</a:t>
            </a:r>
          </a:p>
        </p:txBody>
      </p:sp>
      <p:sp>
        <p:nvSpPr>
          <p:cNvPr id="4" name="Date Placeholder 3">
            <a:extLst>
              <a:ext uri="{FF2B5EF4-FFF2-40B4-BE49-F238E27FC236}">
                <a16:creationId xmlns:a16="http://schemas.microsoft.com/office/drawing/2014/main" id="{E9809696-14E9-F9A1-1C55-2B41AA21A732}"/>
              </a:ext>
            </a:extLst>
          </p:cNvPr>
          <p:cNvSpPr>
            <a:spLocks noGrp="1"/>
          </p:cNvSpPr>
          <p:nvPr>
            <p:ph type="dt" sz="half" idx="10"/>
          </p:nvPr>
        </p:nvSpPr>
        <p:spPr/>
        <p:txBody>
          <a:bodyPr/>
          <a:lstStyle/>
          <a:p>
            <a:pPr defTabSz="685800"/>
            <a:fld id="{91A664DF-1640-8649-9CEA-86EB2804431E}" type="datetime1">
              <a:rPr lang="en-US">
                <a:solidFill>
                  <a:prstClr val="black">
                    <a:tint val="82000"/>
                  </a:prstClr>
                </a:solidFill>
                <a:latin typeface="Aptos" panose="02110004020202020204"/>
              </a:rPr>
              <a:pPr defTabSz="685800"/>
              <a:t>3/6/2026</a:t>
            </a:fld>
            <a:endParaRPr lang="en-US">
              <a:solidFill>
                <a:prstClr val="black">
                  <a:tint val="82000"/>
                </a:prstClr>
              </a:solidFill>
              <a:latin typeface="Aptos" panose="02110004020202020204"/>
            </a:endParaRPr>
          </a:p>
        </p:txBody>
      </p:sp>
      <p:sp>
        <p:nvSpPr>
          <p:cNvPr id="5" name="Footer Placeholder 4">
            <a:extLst>
              <a:ext uri="{FF2B5EF4-FFF2-40B4-BE49-F238E27FC236}">
                <a16:creationId xmlns:a16="http://schemas.microsoft.com/office/drawing/2014/main" id="{14A63BB6-B1A1-000B-997C-8AB4C7ED9641}"/>
              </a:ext>
            </a:extLst>
          </p:cNvPr>
          <p:cNvSpPr>
            <a:spLocks noGrp="1"/>
          </p:cNvSpPr>
          <p:nvPr>
            <p:ph type="ftr" sz="quarter" idx="11"/>
          </p:nvPr>
        </p:nvSpPr>
        <p:spPr/>
        <p:txBody>
          <a:bodyPr/>
          <a:lstStyle/>
          <a:p>
            <a:pPr defTabSz="685800"/>
            <a:r>
              <a:rPr lang="en-US">
                <a:solidFill>
                  <a:prstClr val="black">
                    <a:tint val="82000"/>
                  </a:prstClr>
                </a:solidFill>
                <a:latin typeface="Aptos" panose="02110004020202020204"/>
              </a:rPr>
              <a:t>Oregon Cricket League </a:t>
            </a:r>
          </a:p>
        </p:txBody>
      </p:sp>
      <p:sp>
        <p:nvSpPr>
          <p:cNvPr id="6" name="Slide Number Placeholder 5">
            <a:extLst>
              <a:ext uri="{FF2B5EF4-FFF2-40B4-BE49-F238E27FC236}">
                <a16:creationId xmlns:a16="http://schemas.microsoft.com/office/drawing/2014/main" id="{3B3BDFF2-94A9-0307-CF5E-0EB0FBF73038}"/>
              </a:ext>
            </a:extLst>
          </p:cNvPr>
          <p:cNvSpPr>
            <a:spLocks noGrp="1"/>
          </p:cNvSpPr>
          <p:nvPr>
            <p:ph type="sldNum" sz="quarter" idx="12"/>
          </p:nvPr>
        </p:nvSpPr>
        <p:spPr/>
        <p:txBody>
          <a:bodyPr/>
          <a:lstStyle/>
          <a:p>
            <a:pPr defTabSz="685800"/>
            <a:fld id="{2CEF10E0-DB2E-0D4E-A6A3-A0590A802545}" type="slidenum">
              <a:rPr lang="en-US">
                <a:solidFill>
                  <a:prstClr val="black">
                    <a:tint val="82000"/>
                  </a:prstClr>
                </a:solidFill>
                <a:latin typeface="Aptos" panose="02110004020202020204"/>
              </a:rPr>
              <a:pPr defTabSz="685800"/>
              <a:t>28</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1550971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28</Slides>
  <Notes>16</Notes>
  <HiddenSlides>0</HiddenSlides>
  <ScaleCrop>false</ScaleCrop>
  <HeadingPairs>
    <vt:vector size="4" baseType="variant">
      <vt:variant>
        <vt:lpstr>Theme</vt:lpstr>
      </vt:variant>
      <vt:variant>
        <vt:i4>2</vt:i4>
      </vt:variant>
      <vt:variant>
        <vt:lpstr>Slide Titles</vt:lpstr>
      </vt:variant>
      <vt:variant>
        <vt:i4>28</vt:i4>
      </vt:variant>
    </vt:vector>
  </HeadingPairs>
  <TitlesOfParts>
    <vt:vector size="30"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Round by Round Simulation Results</vt:lpstr>
      <vt:lpstr>Confirmation of Viability of Modified Swiss System  to be devoid of influence by the Initial Seeding Ranks</vt:lpstr>
      <vt:lpstr>`Virtual` OCL Tournament Run using Modified Swiss Format</vt:lpstr>
      <vt:lpstr>`Virtual` OCL Tournament Run using Modified Swiss Format</vt:lpstr>
      <vt:lpstr>`Virtual` OCL Tournament Run using Modified Swiss Format</vt:lpstr>
      <vt:lpstr>`Virtual` OCL Tournament Run using Modified Swiss Format</vt:lpstr>
      <vt:lpstr>`Virtual` OCL Tournament Run using Modified Swiss Format</vt:lpstr>
      <vt:lpstr>`Virtual` OCL Tournament Run using Modified Swiss Format</vt:lpstr>
      <vt:lpstr>`Virtual` OCL Tournament Run using Modified Swiss Format</vt:lpstr>
      <vt:lpstr>`Virtual` OCL Tournament Run using Modified Swiss Format</vt:lpstr>
      <vt:lpstr>Change in Seeding across Tournament</vt:lpstr>
      <vt:lpstr>Notes / Caveats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Modified Swiss Tournament Format Proposal - Revised</dc:title>
  <dc:subject>PptxGenJS Presentation</dc:subject>
  <dc:creator>Burzin - Oregon Cricket League</dc:creator>
  <cp:revision>3</cp:revision>
  <dcterms:created xsi:type="dcterms:W3CDTF">2026-03-03T00:22:06Z</dcterms:created>
  <dcterms:modified xsi:type="dcterms:W3CDTF">2026-03-07T00:39:31Z</dcterms:modified>
</cp:coreProperties>
</file>